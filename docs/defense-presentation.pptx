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B286CE-5F1F-F2CD-8A81-9C85C5876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D814DE-5FFB-272B-82E5-04D96A3B0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DEA36B-E96E-9D6D-4DD2-3D2931CD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905D6-C620-4568-BF80-26BF4665417A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89E580-4FA0-4A04-A2E1-ED9DCD6A2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920DBE-B118-607E-48FF-FBB7E96B4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4595-AAC4-46B8-88EA-027CBBBFED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38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1FCFE-CE06-C508-F938-92A34587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C1F79B-7656-48F2-D079-603C40124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945516-4DD3-E1D0-A02C-E29A78FE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905D6-C620-4568-BF80-26BF4665417A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3CF521-1A6F-8BD3-7293-42408636A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81AB97-67C4-AB29-704F-9D24AD7C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4595-AAC4-46B8-88EA-027CBBBFED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259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5DD50-6D8C-E4A8-D80B-2924B35B1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30777E-3004-4CB2-5ECF-D7501C884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30E35C-EC63-3595-CEF5-8BF341E28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905D6-C620-4568-BF80-26BF4665417A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36C670-EE04-AD7F-AACA-D7A2247F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58844B-95D8-DBCD-D22E-92ABD2E15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4595-AAC4-46B8-88EA-027CBBBFED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390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54AD8-786E-1CEC-E647-E492CF86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795BBC-E489-07CD-A764-FA1D419EE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A7D7AF-1161-E90B-A12A-CEA868CE6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78F86C-5851-25BF-FE40-E7E2194E4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905D6-C620-4568-BF80-26BF4665417A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3F9128-08DE-14CD-E49F-E86A0664D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2EF846-9AF3-B677-E15E-42455D2A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4595-AAC4-46B8-88EA-027CBBBFED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84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8A02C-7CE7-A85E-67A2-F7944C6C4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A61DE5-2D11-7F8A-E7FC-4F3F0E87E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F89384-2556-0EA7-7C13-E9F1E1428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342E73-D96D-F508-DEF0-ECD0E0EE53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2A3D4C6-618A-EC8B-BC94-9772688447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C00C1C9-65FA-122A-A6E3-66C58DACB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905D6-C620-4568-BF80-26BF4665417A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50FB58-8911-5F24-0828-5EAED44F7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0276C31-00DD-A05A-67F1-F137E4B81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4595-AAC4-46B8-88EA-027CBBBFED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851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65A96-5F4F-C9AE-6A51-D1A4F45DD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C02247A-7CD6-8F41-5B90-36114D0D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905D6-C620-4568-BF80-26BF4665417A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39C117-58A9-AAC2-F953-166C10FE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61F0FF-626A-2C10-C49E-97CA7786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4595-AAC4-46B8-88EA-027CBBBFED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5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A24B9A-0B24-B46A-D75E-4E7C6FCC4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905D6-C620-4568-BF80-26BF4665417A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6B7B138-70D1-4E7C-F8B8-60B837B20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43D37C-7F91-1957-7812-46E8EF11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4595-AAC4-46B8-88EA-027CBBBFED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95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35FC5-87BC-17F0-98AC-451A37E22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1708AC-1D42-1A7B-4502-8EEE29C0D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009DC2-A4DF-04A2-324D-C56E8A774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27ECBC-BA1F-9937-E89C-DDBCA9D3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905D6-C620-4568-BF80-26BF4665417A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E35C45-2CD2-5474-B5B4-07EE6458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702C9A-BB96-B39C-AA84-2794417CC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4595-AAC4-46B8-88EA-027CBBBFED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340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1F58F-96DC-BD11-ECD5-943E01BF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2B2BF60-724B-2630-91D6-0BD4310EDE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1D245E-4684-0713-3D06-5D85DD0D3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11E19A-4E57-4D3C-D9B2-D7B92DBF4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905D6-C620-4568-BF80-26BF4665417A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B124B0-722E-555C-30A8-24C0E6D46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D0E2E3-7BB1-EE98-2752-899173E6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4595-AAC4-46B8-88EA-027CBBBFED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57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A39188-78BC-7F3C-7078-15BD9424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D110BF-9FF2-1A96-3808-7978AC943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6FE42F-6B09-168B-A4B3-4973B88C3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905D6-C620-4568-BF80-26BF4665417A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534AE7-6D53-ABF3-CC38-D83244F59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C34D0D-59C3-6D1C-70D5-E9CE3AB2B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4595-AAC4-46B8-88EA-027CBBBFED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8969DC-5310-1ECC-C71F-AB7B0E491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CC8EF2-46B6-18E5-5688-10AD6A5FB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58C613-CF17-FB44-0EA1-27133E60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905D6-C620-4568-BF80-26BF4665417A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4028A9-3148-2EB2-4F6A-E4EE08FE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77D87D-B266-0FC0-35C2-463AAE66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4595-AAC4-46B8-88EA-027CBBBFED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876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35FBA-1A1B-0A3E-645B-3DD16452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115781-8EF7-5210-F5C4-C7CB3B9AD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3107B1-5A33-01B3-C299-A493CF454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8905D6-C620-4568-BF80-26BF4665417A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52FC1E-F7CA-BCFF-DE7C-80A7AA8AB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DC6E9D-9716-11B0-7E39-EF89C8F16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34595-AAC4-46B8-88EA-027CBBBFED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38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45F2137-A0BD-AB1A-8927-AF85C6BCC6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C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C06C6DA-D3DF-F5F7-F1CA-7BF950B37A8F}"/>
              </a:ext>
            </a:extLst>
          </p:cNvPr>
          <p:cNvSpPr/>
          <p:nvPr/>
        </p:nvSpPr>
        <p:spPr>
          <a:xfrm>
            <a:off x="5232400" y="1084263"/>
            <a:ext cx="6553200" cy="3775075"/>
          </a:xfrm>
          <a:prstGeom prst="roundRect">
            <a:avLst/>
          </a:prstGeom>
          <a:solidFill>
            <a:srgbClr val="0E1827">
              <a:alpha val="78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B44DF6-A3DC-4444-98B7-46ED705BC2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185863"/>
            <a:ext cx="6350000" cy="357187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0C42C39-1B30-A063-8845-6AABC3BB2F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F0D406E-18F2-1432-DD42-F3D51E6B4FAF}"/>
              </a:ext>
            </a:extLst>
          </p:cNvPr>
          <p:cNvSpPr/>
          <p:nvPr/>
        </p:nvSpPr>
        <p:spPr>
          <a:xfrm>
            <a:off x="-1524000" y="-1651000"/>
            <a:ext cx="4572000" cy="4572000"/>
          </a:xfrm>
          <a:prstGeom prst="ellipse">
            <a:avLst/>
          </a:prstGeom>
          <a:solidFill>
            <a:srgbClr val="00E2FF">
              <a:alpha val="3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45C9985-216C-B91A-BBAD-7A8DBF22E10E}"/>
              </a:ext>
            </a:extLst>
          </p:cNvPr>
          <p:cNvSpPr/>
          <p:nvPr/>
        </p:nvSpPr>
        <p:spPr>
          <a:xfrm>
            <a:off x="8890000" y="4191000"/>
            <a:ext cx="4064000" cy="4064000"/>
          </a:xfrm>
          <a:prstGeom prst="ellipse">
            <a:avLst/>
          </a:prstGeom>
          <a:solidFill>
            <a:srgbClr val="3AFFB1">
              <a:alpha val="2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12DAD8-5592-8B3E-1492-4549C5762CD2}"/>
              </a:ext>
            </a:extLst>
          </p:cNvPr>
          <p:cNvSpPr txBox="1"/>
          <p:nvPr/>
        </p:nvSpPr>
        <p:spPr>
          <a:xfrm>
            <a:off x="685800" y="5334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00E2FF"/>
                </a:solidFill>
                <a:latin typeface="Montserrat" panose="00000500000000000000" pitchFamily="2" charset="-52"/>
              </a:rPr>
              <a:t>Дипломный проект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E2B1C3-BEAC-E352-9FC0-03C0B40D3067}"/>
              </a:ext>
            </a:extLst>
          </p:cNvPr>
          <p:cNvSpPr txBox="1"/>
          <p:nvPr/>
        </p:nvSpPr>
        <p:spPr>
          <a:xfrm>
            <a:off x="685800" y="1473200"/>
            <a:ext cx="5588000" cy="132343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300" b="1">
                <a:solidFill>
                  <a:srgbClr val="EEFAFF"/>
                </a:solidFill>
                <a:latin typeface="Montserrat" panose="00000500000000000000" pitchFamily="2" charset="-52"/>
              </a:rPr>
              <a:t>3D-</a:t>
            </a:r>
            <a:r>
              <a:rPr lang="ru-RU" sz="4300" b="1">
                <a:solidFill>
                  <a:srgbClr val="EEFAFF"/>
                </a:solidFill>
                <a:latin typeface="Montserrat" panose="00000500000000000000" pitchFamily="2" charset="-52"/>
              </a:rPr>
              <a:t>визуализация
логических схем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F7B4E7-EC48-BA3B-8D71-7791C617F9EE}"/>
              </a:ext>
            </a:extLst>
          </p:cNvPr>
          <p:cNvSpPr txBox="1"/>
          <p:nvPr/>
        </p:nvSpPr>
        <p:spPr>
          <a:xfrm>
            <a:off x="736600" y="3276600"/>
            <a:ext cx="6731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89A4B9"/>
                </a:solidFill>
                <a:latin typeface="Montserrat" panose="00000500000000000000" pitchFamily="2" charset="-52"/>
              </a:rPr>
              <a:t>Разработка обучающего видеофрагмента трехмерной визуализации принципа работы электронных схем, реализующих простейшие логические функции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B769869-9397-FE81-77E0-9044E940FF04}"/>
              </a:ext>
            </a:extLst>
          </p:cNvPr>
          <p:cNvSpPr/>
          <p:nvPr/>
        </p:nvSpPr>
        <p:spPr>
          <a:xfrm>
            <a:off x="736600" y="4648200"/>
            <a:ext cx="1219200" cy="355600"/>
          </a:xfrm>
          <a:prstGeom prst="roundRect">
            <a:avLst/>
          </a:prstGeom>
          <a:solidFill>
            <a:srgbClr val="122237">
              <a:alpha val="95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F1F33-607E-0A52-36B5-9DAF8CED59B7}"/>
              </a:ext>
            </a:extLst>
          </p:cNvPr>
          <p:cNvSpPr txBox="1"/>
          <p:nvPr/>
        </p:nvSpPr>
        <p:spPr>
          <a:xfrm>
            <a:off x="838200" y="4737100"/>
            <a:ext cx="1016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 b="1">
                <a:solidFill>
                  <a:srgbClr val="EEFAFF"/>
                </a:solidFill>
                <a:latin typeface="Montserrat" panose="00000500000000000000" pitchFamily="2" charset="-52"/>
              </a:rPr>
              <a:t>Three.js</a:t>
            </a:r>
            <a:endParaRPr lang="ru-RU" sz="105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054FFC4-E5D4-3024-22C3-D69328248236}"/>
              </a:ext>
            </a:extLst>
          </p:cNvPr>
          <p:cNvSpPr/>
          <p:nvPr/>
        </p:nvSpPr>
        <p:spPr>
          <a:xfrm>
            <a:off x="2108200" y="4648200"/>
            <a:ext cx="1473200" cy="355600"/>
          </a:xfrm>
          <a:prstGeom prst="roundRect">
            <a:avLst/>
          </a:prstGeom>
          <a:solidFill>
            <a:srgbClr val="122237">
              <a:alpha val="95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29DD87-4278-C637-1BBA-BA3066EA1DF8}"/>
              </a:ext>
            </a:extLst>
          </p:cNvPr>
          <p:cNvSpPr txBox="1"/>
          <p:nvPr/>
        </p:nvSpPr>
        <p:spPr>
          <a:xfrm>
            <a:off x="2209800" y="4737100"/>
            <a:ext cx="127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 b="1">
                <a:solidFill>
                  <a:srgbClr val="EEFAFF"/>
                </a:solidFill>
                <a:latin typeface="Montserrat" panose="00000500000000000000" pitchFamily="2" charset="-52"/>
              </a:rPr>
              <a:t>TypeScript</a:t>
            </a:r>
            <a:endParaRPr lang="ru-RU" sz="105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FE23A98A-799C-752E-9380-9218D51DED61}"/>
              </a:ext>
            </a:extLst>
          </p:cNvPr>
          <p:cNvSpPr/>
          <p:nvPr/>
        </p:nvSpPr>
        <p:spPr>
          <a:xfrm>
            <a:off x="3733800" y="4648200"/>
            <a:ext cx="990600" cy="355600"/>
          </a:xfrm>
          <a:prstGeom prst="roundRect">
            <a:avLst/>
          </a:prstGeom>
          <a:solidFill>
            <a:srgbClr val="122237">
              <a:alpha val="95000"/>
            </a:srgbClr>
          </a:solidFill>
          <a:ln w="13970" cap="flat" cmpd="sng" algn="ctr">
            <a:solidFill>
              <a:srgbClr val="2C86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4E1236-A5F2-BCD9-8708-EF9BD03C6058}"/>
              </a:ext>
            </a:extLst>
          </p:cNvPr>
          <p:cNvSpPr txBox="1"/>
          <p:nvPr/>
        </p:nvSpPr>
        <p:spPr>
          <a:xfrm>
            <a:off x="3835400" y="4737100"/>
            <a:ext cx="787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 b="1">
                <a:solidFill>
                  <a:srgbClr val="EEFAFF"/>
                </a:solidFill>
                <a:latin typeface="Montserrat" panose="00000500000000000000" pitchFamily="2" charset="-52"/>
              </a:rPr>
              <a:t>GSAP</a:t>
            </a:r>
            <a:endParaRPr lang="ru-RU" sz="105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CE7DF8A-848D-F3AC-0C8A-E6E819D666B9}"/>
              </a:ext>
            </a:extLst>
          </p:cNvPr>
          <p:cNvSpPr/>
          <p:nvPr/>
        </p:nvSpPr>
        <p:spPr>
          <a:xfrm>
            <a:off x="4876800" y="4648200"/>
            <a:ext cx="889000" cy="355600"/>
          </a:xfrm>
          <a:prstGeom prst="roundRect">
            <a:avLst/>
          </a:prstGeom>
          <a:solidFill>
            <a:srgbClr val="122237">
              <a:alpha val="95000"/>
            </a:srgbClr>
          </a:solidFill>
          <a:ln w="13970" cap="flat" cmpd="sng" algn="ctr">
            <a:solidFill>
              <a:srgbClr val="FFC757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25EFE-EFD2-819D-9E3A-E6344F7FA825}"/>
              </a:ext>
            </a:extLst>
          </p:cNvPr>
          <p:cNvSpPr txBox="1"/>
          <p:nvPr/>
        </p:nvSpPr>
        <p:spPr>
          <a:xfrm>
            <a:off x="4978400" y="4737100"/>
            <a:ext cx="685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 b="1">
                <a:solidFill>
                  <a:srgbClr val="EEFAFF"/>
                </a:solidFill>
                <a:latin typeface="Montserrat" panose="00000500000000000000" pitchFamily="2" charset="-52"/>
              </a:rPr>
              <a:t>Vite</a:t>
            </a:r>
            <a:endParaRPr lang="ru-RU" sz="105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3ECF52-9339-2F1F-05E6-94CA6A98BBCB}"/>
              </a:ext>
            </a:extLst>
          </p:cNvPr>
          <p:cNvSpPr txBox="1"/>
          <p:nvPr/>
        </p:nvSpPr>
        <p:spPr>
          <a:xfrm>
            <a:off x="736600" y="5943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3AFFB1"/>
                </a:solidFill>
                <a:latin typeface="Montserrat" panose="00000500000000000000" pitchFamily="2" charset="-52"/>
              </a:rPr>
              <a:t>NOT / AND / OR</a:t>
            </a:r>
            <a:endParaRPr lang="ru-RU" sz="1700" b="1">
              <a:solidFill>
                <a:srgbClr val="3AFFB1"/>
              </a:solidFill>
              <a:latin typeface="Montserrat" panose="00000500000000000000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B08264-AC28-96D0-5CA0-0A0F934DC028}"/>
              </a:ext>
            </a:extLst>
          </p:cNvPr>
          <p:cNvSpPr txBox="1"/>
          <p:nvPr/>
        </p:nvSpPr>
        <p:spPr>
          <a:xfrm>
            <a:off x="736600" y="6261100"/>
            <a:ext cx="406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>
                <a:solidFill>
                  <a:srgbClr val="89A4B9"/>
                </a:solidFill>
                <a:latin typeface="Montserrat" panose="00000500000000000000" pitchFamily="2" charset="-52"/>
              </a:rPr>
              <a:t>интерактивный учебный фрагмент</a:t>
            </a:r>
          </a:p>
        </p:txBody>
      </p:sp>
    </p:spTree>
    <p:extLst>
      <p:ext uri="{BB962C8B-B14F-4D97-AF65-F5344CB8AC3E}">
        <p14:creationId xmlns:p14="http://schemas.microsoft.com/office/powerpoint/2010/main" val="2278700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F739C02-8909-EBF4-AFB5-D29E001BE3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C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23097761-AC5B-F203-5B05-22BC1E83ECE9}"/>
              </a:ext>
            </a:extLst>
          </p:cNvPr>
          <p:cNvSpPr/>
          <p:nvPr/>
        </p:nvSpPr>
        <p:spPr>
          <a:xfrm>
            <a:off x="-1714500" y="-1524000"/>
            <a:ext cx="4318000" cy="4318000"/>
          </a:xfrm>
          <a:prstGeom prst="ellipse">
            <a:avLst/>
          </a:prstGeom>
          <a:solidFill>
            <a:srgbClr val="2C86FF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0B78A23F-E3FF-EF03-6C2A-C0BF5D02E96C}"/>
              </a:ext>
            </a:extLst>
          </p:cNvPr>
          <p:cNvSpPr/>
          <p:nvPr/>
        </p:nvSpPr>
        <p:spPr>
          <a:xfrm>
            <a:off x="9652000" y="4254500"/>
            <a:ext cx="3556000" cy="3556000"/>
          </a:xfrm>
          <a:prstGeom prst="ellipse">
            <a:avLst/>
          </a:prstGeom>
          <a:solidFill>
            <a:srgbClr val="3AFFB1">
              <a:alpha val="1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0F721D42-2B54-EA37-131F-1F1EC96701FA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2FFDF868-6383-4BDF-8708-ED98675008FE}"/>
              </a:ext>
            </a:extLst>
          </p:cNvPr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D2E69DE-7274-6432-B542-EE0D33050F14}"/>
              </a:ext>
            </a:extLst>
          </p:cNvPr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A13D758-9BB6-6CCE-22A1-D04EC4534BBC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14DA0A8-83C7-5B02-CC7A-BCC68A049425}"/>
              </a:ext>
            </a:extLst>
          </p:cNvPr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BF0F767-8C2C-0B0B-18E7-105DA41299FB}"/>
              </a:ext>
            </a:extLst>
          </p:cNvPr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D67DE19-E01E-8C2D-977B-F1B555F50E22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470970C-A5CB-2E90-3007-73A90DC96542}"/>
              </a:ext>
            </a:extLst>
          </p:cNvPr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8CBDDDB4-4ED7-DE4A-D356-5F04F62E33A9}"/>
              </a:ext>
            </a:extLst>
          </p:cNvPr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8324E88C-0F9B-18B1-755A-562FA619F0EA}"/>
              </a:ext>
            </a:extLst>
          </p:cNvPr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D9EE609-FD96-0115-BF79-8F8D14464A05}"/>
              </a:ext>
            </a:extLst>
          </p:cNvPr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4912A8E-2A83-B98D-4EED-24BEB9244954}"/>
              </a:ext>
            </a:extLst>
          </p:cNvPr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B18611AC-5FD2-47DA-65C7-ACF6A4DC3BD8}"/>
              </a:ext>
            </a:extLst>
          </p:cNvPr>
          <p:cNvCxnSpPr/>
          <p:nvPr/>
        </p:nvCxnSpPr>
        <p:spPr>
          <a:xfrm>
            <a:off x="0" y="25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08FC4ED-ABA5-E3A8-A9C3-F17901AD2549}"/>
              </a:ext>
            </a:extLst>
          </p:cNvPr>
          <p:cNvCxnSpPr/>
          <p:nvPr/>
        </p:nvCxnSpPr>
        <p:spPr>
          <a:xfrm>
            <a:off x="0" y="127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030B3711-E10B-3D09-9F5B-9CB69DE0CA38}"/>
              </a:ext>
            </a:extLst>
          </p:cNvPr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8FA087C-C14C-933E-8764-EC4895382220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8C9C2799-313F-0D09-74BA-D072B18F2FCA}"/>
              </a:ext>
            </a:extLst>
          </p:cNvPr>
          <p:cNvCxnSpPr/>
          <p:nvPr/>
        </p:nvCxnSpPr>
        <p:spPr>
          <a:xfrm>
            <a:off x="0" y="4318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AC58AE8B-A626-030F-6441-D8F4EF2E2EB0}"/>
              </a:ext>
            </a:extLst>
          </p:cNvPr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FF91111-AD38-4C6E-DE09-58021E5E6577}"/>
              </a:ext>
            </a:extLst>
          </p:cNvPr>
          <p:cNvCxnSpPr/>
          <p:nvPr/>
        </p:nvCxnSpPr>
        <p:spPr>
          <a:xfrm>
            <a:off x="0" y="635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533ED80-D3F1-8DC3-1449-A546927CD06C}"/>
              </a:ext>
            </a:extLst>
          </p:cNvPr>
          <p:cNvSpPr txBox="1"/>
          <p:nvPr/>
        </p:nvSpPr>
        <p:spPr>
          <a:xfrm>
            <a:off x="533400" y="3048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>
                <a:solidFill>
                  <a:srgbClr val="00E2FF"/>
                </a:solidFill>
                <a:latin typeface="Montserrat" panose="00000500000000000000" pitchFamily="2" charset="-52"/>
              </a:rPr>
              <a:t>02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0BAE9E-67C1-DFBE-D2FB-F033605970DB}"/>
              </a:ext>
            </a:extLst>
          </p:cNvPr>
          <p:cNvSpPr txBox="1"/>
          <p:nvPr/>
        </p:nvSpPr>
        <p:spPr>
          <a:xfrm>
            <a:off x="1270000" y="2921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89A4B9"/>
                </a:solidFill>
                <a:latin typeface="Montserrat" panose="00000500000000000000" pitchFamily="2" charset="-52"/>
              </a:rPr>
              <a:t>Дипломный проект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691063D5-0B55-EFBF-BA58-A12F7DCE271B}"/>
              </a:ext>
            </a:extLst>
          </p:cNvPr>
          <p:cNvCxnSpPr/>
          <p:nvPr/>
        </p:nvCxnSpPr>
        <p:spPr>
          <a:xfrm>
            <a:off x="533400" y="6388100"/>
            <a:ext cx="11125200" cy="0"/>
          </a:xfrm>
          <a:prstGeom prst="line">
            <a:avLst/>
          </a:prstGeom>
          <a:ln w="13970" cap="flat" cmpd="sng" algn="ctr">
            <a:solidFill>
              <a:srgbClr val="315670">
                <a:alpha val="5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5332D85-F4FE-AF94-658E-01AC95928A8B}"/>
              </a:ext>
            </a:extLst>
          </p:cNvPr>
          <p:cNvSpPr txBox="1"/>
          <p:nvPr/>
        </p:nvSpPr>
        <p:spPr>
          <a:xfrm>
            <a:off x="533400" y="736600"/>
            <a:ext cx="876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EEFAFF"/>
                </a:solidFill>
                <a:latin typeface="Montserrat" panose="00000500000000000000" pitchFamily="2" charset="-52"/>
              </a:rPr>
              <a:t>Актуальность проблемы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0AEB306-6273-4085-AA65-E8B13F615323}"/>
              </a:ext>
            </a:extLst>
          </p:cNvPr>
          <p:cNvSpPr/>
          <p:nvPr/>
        </p:nvSpPr>
        <p:spPr>
          <a:xfrm>
            <a:off x="533400" y="1524000"/>
            <a:ext cx="13208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A7E1EC-FCD6-3250-CA78-82F3F63B683A}"/>
              </a:ext>
            </a:extLst>
          </p:cNvPr>
          <p:cNvSpPr txBox="1"/>
          <p:nvPr/>
        </p:nvSpPr>
        <p:spPr>
          <a:xfrm>
            <a:off x="533400" y="16764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89A4B9"/>
                </a:solidFill>
                <a:latin typeface="Montserrat" panose="00000500000000000000" pitchFamily="2" charset="-52"/>
              </a:rPr>
              <a:t>Статичные схемы сложно связывать с реальным прохождением сигнала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AC4FDA7-F8D7-D458-4FF0-E07136DA58C8}"/>
              </a:ext>
            </a:extLst>
          </p:cNvPr>
          <p:cNvSpPr/>
          <p:nvPr/>
        </p:nvSpPr>
        <p:spPr>
          <a:xfrm>
            <a:off x="660400" y="2387600"/>
            <a:ext cx="3124200" cy="19304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2C86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8497044-93E9-59F8-EA17-903B2BF0F047}"/>
              </a:ext>
            </a:extLst>
          </p:cNvPr>
          <p:cNvSpPr/>
          <p:nvPr/>
        </p:nvSpPr>
        <p:spPr>
          <a:xfrm>
            <a:off x="863600" y="2590800"/>
            <a:ext cx="533400" cy="50800"/>
          </a:xfrm>
          <a:prstGeom prst="rect">
            <a:avLst/>
          </a:prstGeom>
          <a:solidFill>
            <a:srgbClr val="2C8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1DCB62-E94A-3213-3703-6DEA9FD0FBDB}"/>
              </a:ext>
            </a:extLst>
          </p:cNvPr>
          <p:cNvSpPr txBox="1"/>
          <p:nvPr/>
        </p:nvSpPr>
        <p:spPr>
          <a:xfrm>
            <a:off x="863600" y="2755900"/>
            <a:ext cx="2717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Схема на доске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3F5327-A3B2-E153-05AD-91995D7C7D48}"/>
              </a:ext>
            </a:extLst>
          </p:cNvPr>
          <p:cNvSpPr txBox="1"/>
          <p:nvPr/>
        </p:nvSpPr>
        <p:spPr>
          <a:xfrm>
            <a:off x="863600" y="3200400"/>
            <a:ext cx="27178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Показывает обозначения, но плохо объясняет движение сигнала и состояние выхода.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4182FC72-F1A1-8626-80C5-FCB89CC4D9C2}"/>
              </a:ext>
            </a:extLst>
          </p:cNvPr>
          <p:cNvSpPr/>
          <p:nvPr/>
        </p:nvSpPr>
        <p:spPr>
          <a:xfrm>
            <a:off x="4267200" y="2387600"/>
            <a:ext cx="3124200" cy="19304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57C515F-42E5-8D93-58D1-5CCC731A7882}"/>
              </a:ext>
            </a:extLst>
          </p:cNvPr>
          <p:cNvSpPr/>
          <p:nvPr/>
        </p:nvSpPr>
        <p:spPr>
          <a:xfrm>
            <a:off x="4470400" y="2590800"/>
            <a:ext cx="5334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68AE6C-2A5D-776D-305A-B12DD66FC445}"/>
              </a:ext>
            </a:extLst>
          </p:cNvPr>
          <p:cNvSpPr txBox="1"/>
          <p:nvPr/>
        </p:nvSpPr>
        <p:spPr>
          <a:xfrm>
            <a:off x="4470400" y="2755900"/>
            <a:ext cx="2717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Таблица истинности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892448-123C-BF83-63AC-7BE8786C5B4D}"/>
              </a:ext>
            </a:extLst>
          </p:cNvPr>
          <p:cNvSpPr txBox="1"/>
          <p:nvPr/>
        </p:nvSpPr>
        <p:spPr>
          <a:xfrm>
            <a:off x="4470400" y="3200400"/>
            <a:ext cx="27178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Дает правило, но остается оторванной от поведения электронной схемы.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5DE517F7-2557-E3F0-966C-8E6211883992}"/>
              </a:ext>
            </a:extLst>
          </p:cNvPr>
          <p:cNvSpPr/>
          <p:nvPr/>
        </p:nvSpPr>
        <p:spPr>
          <a:xfrm>
            <a:off x="7874000" y="2387600"/>
            <a:ext cx="3124200" cy="19304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B5ABF979-2414-10E8-E3DE-53F2D4CDF8BE}"/>
              </a:ext>
            </a:extLst>
          </p:cNvPr>
          <p:cNvSpPr/>
          <p:nvPr/>
        </p:nvSpPr>
        <p:spPr>
          <a:xfrm>
            <a:off x="8077200" y="2590800"/>
            <a:ext cx="533400" cy="50800"/>
          </a:xfrm>
          <a:prstGeom prst="rect">
            <a:avLst/>
          </a:prstGeom>
          <a:solidFill>
            <a:srgbClr val="3AFFB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529CA6-0E41-84D6-6E9D-F76E5D91BBC0}"/>
              </a:ext>
            </a:extLst>
          </p:cNvPr>
          <p:cNvSpPr txBox="1"/>
          <p:nvPr/>
        </p:nvSpPr>
        <p:spPr>
          <a:xfrm>
            <a:off x="8077200" y="2755900"/>
            <a:ext cx="2717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Нужна визуальная связь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B72A94-01A3-4F2D-2CA2-5D1D7ED925AE}"/>
              </a:ext>
            </a:extLst>
          </p:cNvPr>
          <p:cNvSpPr txBox="1"/>
          <p:nvPr/>
        </p:nvSpPr>
        <p:spPr>
          <a:xfrm>
            <a:off x="8077200" y="3200400"/>
            <a:ext cx="27178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Студент должен видеть входы, логический блок, проводники и результат одновременно.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D726A6-B75C-1C35-5168-29297B5ACF70}"/>
              </a:ext>
            </a:extLst>
          </p:cNvPr>
          <p:cNvSpPr txBox="1"/>
          <p:nvPr/>
        </p:nvSpPr>
        <p:spPr>
          <a:xfrm>
            <a:off x="1244600" y="4953000"/>
            <a:ext cx="9652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b="1">
                <a:solidFill>
                  <a:srgbClr val="EEFAFF"/>
                </a:solidFill>
                <a:latin typeface="Montserrat" panose="00000500000000000000" pitchFamily="2" charset="-52"/>
              </a:rPr>
              <a:t>Решение: интерактивная 3D-модель, где логика, сигнал и таблица работают синхронно.</a:t>
            </a:r>
          </a:p>
        </p:txBody>
      </p:sp>
    </p:spTree>
    <p:extLst>
      <p:ext uri="{BB962C8B-B14F-4D97-AF65-F5344CB8AC3E}">
        <p14:creationId xmlns:p14="http://schemas.microsoft.com/office/powerpoint/2010/main" val="130639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841FAF1-C0D9-2696-891D-5D0DCE9D13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C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E95074B4-4404-98C1-9111-D77E05B0223A}"/>
              </a:ext>
            </a:extLst>
          </p:cNvPr>
          <p:cNvSpPr/>
          <p:nvPr/>
        </p:nvSpPr>
        <p:spPr>
          <a:xfrm>
            <a:off x="-1714500" y="-1524000"/>
            <a:ext cx="4318000" cy="4318000"/>
          </a:xfrm>
          <a:prstGeom prst="ellipse">
            <a:avLst/>
          </a:prstGeom>
          <a:solidFill>
            <a:srgbClr val="2C86FF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4CD62ADA-F420-A770-F310-842A1A949988}"/>
              </a:ext>
            </a:extLst>
          </p:cNvPr>
          <p:cNvSpPr/>
          <p:nvPr/>
        </p:nvSpPr>
        <p:spPr>
          <a:xfrm>
            <a:off x="9652000" y="4254500"/>
            <a:ext cx="3556000" cy="3556000"/>
          </a:xfrm>
          <a:prstGeom prst="ellipse">
            <a:avLst/>
          </a:prstGeom>
          <a:solidFill>
            <a:srgbClr val="3AFFB1">
              <a:alpha val="1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F59FECE-19FD-ECC4-CEFF-632105F2BAB9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C53C5E1-3966-1A39-6D7E-897B90D3D696}"/>
              </a:ext>
            </a:extLst>
          </p:cNvPr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A82C9CC-3F25-6203-73D6-05D5435C1AC3}"/>
              </a:ext>
            </a:extLst>
          </p:cNvPr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CABE96E-DC76-3F5E-7F29-C0595A54F395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0F8CB55-D893-9EEF-01E0-86737036BC29}"/>
              </a:ext>
            </a:extLst>
          </p:cNvPr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F95F7A80-0659-E618-7135-1104DE6BAE95}"/>
              </a:ext>
            </a:extLst>
          </p:cNvPr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C4E1727F-9E09-B117-BF0E-E8389C2A14BD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567D198-77FA-FE0D-18B5-40AF0E1C5FD0}"/>
              </a:ext>
            </a:extLst>
          </p:cNvPr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85559AD-0156-56FB-26E1-65DD236D0DF9}"/>
              </a:ext>
            </a:extLst>
          </p:cNvPr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46183D1-FA26-202B-0618-16C037B0BE11}"/>
              </a:ext>
            </a:extLst>
          </p:cNvPr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0D751B20-015B-640F-93C1-17760E102875}"/>
              </a:ext>
            </a:extLst>
          </p:cNvPr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C79D3543-A8B4-18ED-9929-553C5DED2B15}"/>
              </a:ext>
            </a:extLst>
          </p:cNvPr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B70D47C1-99E7-929B-006C-9BF47647A9F1}"/>
              </a:ext>
            </a:extLst>
          </p:cNvPr>
          <p:cNvCxnSpPr/>
          <p:nvPr/>
        </p:nvCxnSpPr>
        <p:spPr>
          <a:xfrm>
            <a:off x="0" y="25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D32CE87-EEDF-2EEC-E060-5F875EE2169C}"/>
              </a:ext>
            </a:extLst>
          </p:cNvPr>
          <p:cNvCxnSpPr/>
          <p:nvPr/>
        </p:nvCxnSpPr>
        <p:spPr>
          <a:xfrm>
            <a:off x="0" y="127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F0DAE5A8-5993-B879-5689-A75F58DC87EF}"/>
              </a:ext>
            </a:extLst>
          </p:cNvPr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CC33AD75-067A-2BED-7F0D-72E14FA2F972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C74981DD-193E-DCC1-373B-579FBB9EB7D5}"/>
              </a:ext>
            </a:extLst>
          </p:cNvPr>
          <p:cNvCxnSpPr/>
          <p:nvPr/>
        </p:nvCxnSpPr>
        <p:spPr>
          <a:xfrm>
            <a:off x="0" y="4318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03AC45F-9CF3-9F37-5B95-CEC07BD4D097}"/>
              </a:ext>
            </a:extLst>
          </p:cNvPr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DCA12C73-DF7C-E7C4-DD23-8F1519E95F4D}"/>
              </a:ext>
            </a:extLst>
          </p:cNvPr>
          <p:cNvCxnSpPr/>
          <p:nvPr/>
        </p:nvCxnSpPr>
        <p:spPr>
          <a:xfrm>
            <a:off x="0" y="635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CA3F659-643F-14E7-5DE3-CF6BA1F5266C}"/>
              </a:ext>
            </a:extLst>
          </p:cNvPr>
          <p:cNvSpPr txBox="1"/>
          <p:nvPr/>
        </p:nvSpPr>
        <p:spPr>
          <a:xfrm>
            <a:off x="533400" y="3048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>
                <a:solidFill>
                  <a:srgbClr val="00E2FF"/>
                </a:solidFill>
                <a:latin typeface="Montserrat" panose="00000500000000000000" pitchFamily="2" charset="-52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3923ED-9856-B02E-DAAC-83799EF0B8EE}"/>
              </a:ext>
            </a:extLst>
          </p:cNvPr>
          <p:cNvSpPr txBox="1"/>
          <p:nvPr/>
        </p:nvSpPr>
        <p:spPr>
          <a:xfrm>
            <a:off x="1270000" y="2921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89A4B9"/>
                </a:solidFill>
                <a:latin typeface="Montserrat" panose="00000500000000000000" pitchFamily="2" charset="-52"/>
              </a:rPr>
              <a:t>Дипломный проект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1020E6D7-E1C7-8B06-F79D-A346C6186541}"/>
              </a:ext>
            </a:extLst>
          </p:cNvPr>
          <p:cNvCxnSpPr/>
          <p:nvPr/>
        </p:nvCxnSpPr>
        <p:spPr>
          <a:xfrm>
            <a:off x="533400" y="6388100"/>
            <a:ext cx="11125200" cy="0"/>
          </a:xfrm>
          <a:prstGeom prst="line">
            <a:avLst/>
          </a:prstGeom>
          <a:ln w="13970" cap="flat" cmpd="sng" algn="ctr">
            <a:solidFill>
              <a:srgbClr val="315670">
                <a:alpha val="5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DB74A3D-235B-B910-1D14-6407F9CF43E9}"/>
              </a:ext>
            </a:extLst>
          </p:cNvPr>
          <p:cNvSpPr txBox="1"/>
          <p:nvPr/>
        </p:nvSpPr>
        <p:spPr>
          <a:xfrm>
            <a:off x="533400" y="736600"/>
            <a:ext cx="876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EEFAFF"/>
                </a:solidFill>
                <a:latin typeface="Montserrat" panose="00000500000000000000" pitchFamily="2" charset="-52"/>
              </a:rPr>
              <a:t>Цель и задачи проекта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D671CEA-026C-6ABB-24E8-E6861779AC02}"/>
              </a:ext>
            </a:extLst>
          </p:cNvPr>
          <p:cNvSpPr/>
          <p:nvPr/>
        </p:nvSpPr>
        <p:spPr>
          <a:xfrm>
            <a:off x="533400" y="1524000"/>
            <a:ext cx="13208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5A3077-03E1-36F3-A8CE-01C251824C29}"/>
              </a:ext>
            </a:extLst>
          </p:cNvPr>
          <p:cNvSpPr txBox="1"/>
          <p:nvPr/>
        </p:nvSpPr>
        <p:spPr>
          <a:xfrm>
            <a:off x="533400" y="16764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89A4B9"/>
                </a:solidFill>
                <a:latin typeface="Montserrat" panose="00000500000000000000" pitchFamily="2" charset="-52"/>
              </a:rPr>
              <a:t>Сделать учебный фрагмент, который можно смотреть и исследовать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FAFD1583-629D-6EC6-9571-3414BD843B2E}"/>
              </a:ext>
            </a:extLst>
          </p:cNvPr>
          <p:cNvSpPr/>
          <p:nvPr/>
        </p:nvSpPr>
        <p:spPr>
          <a:xfrm>
            <a:off x="736600" y="1955800"/>
            <a:ext cx="10718800" cy="1066800"/>
          </a:xfrm>
          <a:prstGeom prst="roundRect">
            <a:avLst/>
          </a:prstGeom>
          <a:solidFill>
            <a:srgbClr val="0E1827">
              <a:alpha val="90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AA8EE4-3538-C63C-34DA-2D7069C17868}"/>
              </a:ext>
            </a:extLst>
          </p:cNvPr>
          <p:cNvSpPr txBox="1"/>
          <p:nvPr/>
        </p:nvSpPr>
        <p:spPr>
          <a:xfrm>
            <a:off x="1092200" y="2235200"/>
            <a:ext cx="101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3AFFB1"/>
                </a:solidFill>
                <a:latin typeface="Montserrat" panose="00000500000000000000" pitchFamily="2" charset="-52"/>
              </a:rPr>
              <a:t>Цель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B508FC-A3FD-EEA5-46EE-9243CC98C93F}"/>
              </a:ext>
            </a:extLst>
          </p:cNvPr>
          <p:cNvSpPr txBox="1"/>
          <p:nvPr/>
        </p:nvSpPr>
        <p:spPr>
          <a:xfrm>
            <a:off x="2133600" y="2108200"/>
            <a:ext cx="87630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200" b="1">
                <a:solidFill>
                  <a:srgbClr val="EEFAFF"/>
                </a:solidFill>
                <a:latin typeface="Montserrat" panose="00000500000000000000" pitchFamily="2" charset="-52"/>
              </a:rPr>
              <a:t>разработать браузерную 3D-визуализацию работы функций NOT, AND и OR с мини-видео и интерактивной проверкой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B25ED8EE-9A0B-129F-08A4-0FB750D9BC67}"/>
              </a:ext>
            </a:extLst>
          </p:cNvPr>
          <p:cNvSpPr/>
          <p:nvPr/>
        </p:nvSpPr>
        <p:spPr>
          <a:xfrm>
            <a:off x="939800" y="3708400"/>
            <a:ext cx="1905000" cy="16002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E837103-0E7B-E06C-0CFE-A639168389A2}"/>
              </a:ext>
            </a:extLst>
          </p:cNvPr>
          <p:cNvSpPr/>
          <p:nvPr/>
        </p:nvSpPr>
        <p:spPr>
          <a:xfrm>
            <a:off x="1143000" y="3911600"/>
            <a:ext cx="5334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4EFF0F-8330-5A21-2786-BCE472877322}"/>
              </a:ext>
            </a:extLst>
          </p:cNvPr>
          <p:cNvSpPr txBox="1"/>
          <p:nvPr/>
        </p:nvSpPr>
        <p:spPr>
          <a:xfrm>
            <a:off x="1143000" y="4076700"/>
            <a:ext cx="1498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EEFAFF"/>
                </a:solidFill>
                <a:latin typeface="Montserrat" panose="00000500000000000000" pitchFamily="2" charset="-52"/>
              </a:rPr>
              <a:t>3D-</a:t>
            </a:r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сцена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CE3CF8-97EF-F718-CF62-7C8B4D8C97FC}"/>
              </a:ext>
            </a:extLst>
          </p:cNvPr>
          <p:cNvSpPr txBox="1"/>
          <p:nvPr/>
        </p:nvSpPr>
        <p:spPr>
          <a:xfrm>
            <a:off x="1143000" y="4521200"/>
            <a:ext cx="14986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плата, микросхемы, дорожки, </a:t>
            </a:r>
            <a:r>
              <a:rPr lang="en-US" sz="1150">
                <a:solidFill>
                  <a:srgbClr val="89A4B9"/>
                </a:solidFill>
                <a:latin typeface="Montserrat" panose="00000500000000000000" pitchFamily="2" charset="-52"/>
              </a:rPr>
              <a:t>LED</a:t>
            </a:r>
            <a:endParaRPr lang="ru-RU" sz="1150">
              <a:solidFill>
                <a:srgbClr val="89A4B9"/>
              </a:solidFill>
              <a:latin typeface="Montserrat" panose="00000500000000000000" pitchFamily="2" charset="-52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2D5551D7-5BDA-2364-CE6A-3A3B2823C2C9}"/>
              </a:ext>
            </a:extLst>
          </p:cNvPr>
          <p:cNvSpPr/>
          <p:nvPr/>
        </p:nvSpPr>
        <p:spPr>
          <a:xfrm>
            <a:off x="3784600" y="3708400"/>
            <a:ext cx="1905000" cy="16002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D3A611FA-EE7C-3050-CF89-9E40C2B3098F}"/>
              </a:ext>
            </a:extLst>
          </p:cNvPr>
          <p:cNvSpPr/>
          <p:nvPr/>
        </p:nvSpPr>
        <p:spPr>
          <a:xfrm>
            <a:off x="3987800" y="3911600"/>
            <a:ext cx="533400" cy="50800"/>
          </a:xfrm>
          <a:prstGeom prst="rect">
            <a:avLst/>
          </a:prstGeom>
          <a:solidFill>
            <a:srgbClr val="3AFFB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C31947-C211-6783-76CD-655E875523D6}"/>
              </a:ext>
            </a:extLst>
          </p:cNvPr>
          <p:cNvSpPr txBox="1"/>
          <p:nvPr/>
        </p:nvSpPr>
        <p:spPr>
          <a:xfrm>
            <a:off x="3987800" y="4076700"/>
            <a:ext cx="1498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Логика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3F0436-3CE5-FD40-5E6A-0951FD65921A}"/>
              </a:ext>
            </a:extLst>
          </p:cNvPr>
          <p:cNvSpPr txBox="1"/>
          <p:nvPr/>
        </p:nvSpPr>
        <p:spPr>
          <a:xfrm>
            <a:off x="3987800" y="4521200"/>
            <a:ext cx="14986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расчет Y по выбранной функции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B1740B6E-8BF8-9243-69C8-4DD7C7506C1A}"/>
              </a:ext>
            </a:extLst>
          </p:cNvPr>
          <p:cNvSpPr/>
          <p:nvPr/>
        </p:nvSpPr>
        <p:spPr>
          <a:xfrm>
            <a:off x="6629400" y="3708400"/>
            <a:ext cx="1905000" cy="16002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2C86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F887028-2C63-4204-2CDB-920C903634C0}"/>
              </a:ext>
            </a:extLst>
          </p:cNvPr>
          <p:cNvSpPr/>
          <p:nvPr/>
        </p:nvSpPr>
        <p:spPr>
          <a:xfrm>
            <a:off x="6832600" y="3911600"/>
            <a:ext cx="533400" cy="50800"/>
          </a:xfrm>
          <a:prstGeom prst="rect">
            <a:avLst/>
          </a:prstGeom>
          <a:solidFill>
            <a:srgbClr val="2C8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09228E-7B44-84DE-EE04-B17949DC83F0}"/>
              </a:ext>
            </a:extLst>
          </p:cNvPr>
          <p:cNvSpPr txBox="1"/>
          <p:nvPr/>
        </p:nvSpPr>
        <p:spPr>
          <a:xfrm>
            <a:off x="6832600" y="4076700"/>
            <a:ext cx="1498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Обучение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5811CC-1D74-E283-2204-2CFD37F2921C}"/>
              </a:ext>
            </a:extLst>
          </p:cNvPr>
          <p:cNvSpPr txBox="1"/>
          <p:nvPr/>
        </p:nvSpPr>
        <p:spPr>
          <a:xfrm>
            <a:off x="6832600" y="4521200"/>
            <a:ext cx="1498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главы мини-видео и пояснения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6DE00BC6-847D-765F-FC41-E64B77DC687D}"/>
              </a:ext>
            </a:extLst>
          </p:cNvPr>
          <p:cNvSpPr/>
          <p:nvPr/>
        </p:nvSpPr>
        <p:spPr>
          <a:xfrm>
            <a:off x="9474200" y="3708400"/>
            <a:ext cx="1905000" cy="16002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FFC757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BD758201-75BB-491E-162C-0257B3169FFD}"/>
              </a:ext>
            </a:extLst>
          </p:cNvPr>
          <p:cNvSpPr/>
          <p:nvPr/>
        </p:nvSpPr>
        <p:spPr>
          <a:xfrm>
            <a:off x="9677400" y="3911600"/>
            <a:ext cx="533400" cy="50800"/>
          </a:xfrm>
          <a:prstGeom prst="rect">
            <a:avLst/>
          </a:prstGeom>
          <a:solidFill>
            <a:srgbClr val="FFC7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E78021-57FD-6460-3306-689F18A1D295}"/>
              </a:ext>
            </a:extLst>
          </p:cNvPr>
          <p:cNvSpPr txBox="1"/>
          <p:nvPr/>
        </p:nvSpPr>
        <p:spPr>
          <a:xfrm>
            <a:off x="9677400" y="4076700"/>
            <a:ext cx="1498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Проверка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15E1F9-173D-2708-1A69-506462735F2C}"/>
              </a:ext>
            </a:extLst>
          </p:cNvPr>
          <p:cNvSpPr txBox="1"/>
          <p:nvPr/>
        </p:nvSpPr>
        <p:spPr>
          <a:xfrm>
            <a:off x="9677400" y="4521200"/>
            <a:ext cx="14986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таблица истинности и тест входов</a:t>
            </a:r>
          </a:p>
        </p:txBody>
      </p:sp>
    </p:spTree>
    <p:extLst>
      <p:ext uri="{BB962C8B-B14F-4D97-AF65-F5344CB8AC3E}">
        <p14:creationId xmlns:p14="http://schemas.microsoft.com/office/powerpoint/2010/main" val="2121172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A2B150C-6A8C-465D-2945-ACBD7E4103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C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56DE6CF-58C2-BCA7-42E6-7B5454FF1BF6}"/>
              </a:ext>
            </a:extLst>
          </p:cNvPr>
          <p:cNvSpPr/>
          <p:nvPr/>
        </p:nvSpPr>
        <p:spPr>
          <a:xfrm>
            <a:off x="-1714500" y="-1524000"/>
            <a:ext cx="4318000" cy="4318000"/>
          </a:xfrm>
          <a:prstGeom prst="ellipse">
            <a:avLst/>
          </a:prstGeom>
          <a:solidFill>
            <a:srgbClr val="2C86FF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9A205A1E-4184-F771-D2FE-F88470BE2126}"/>
              </a:ext>
            </a:extLst>
          </p:cNvPr>
          <p:cNvSpPr/>
          <p:nvPr/>
        </p:nvSpPr>
        <p:spPr>
          <a:xfrm>
            <a:off x="9652000" y="4254500"/>
            <a:ext cx="3556000" cy="3556000"/>
          </a:xfrm>
          <a:prstGeom prst="ellipse">
            <a:avLst/>
          </a:prstGeom>
          <a:solidFill>
            <a:srgbClr val="3AFFB1">
              <a:alpha val="1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29BB3B1-A07B-1E99-1973-F16FE1502C28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342C407-6949-94D4-D4B7-ABF04B6D5709}"/>
              </a:ext>
            </a:extLst>
          </p:cNvPr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0C4998E-CA8A-7900-F6E5-51CAB0BB36EF}"/>
              </a:ext>
            </a:extLst>
          </p:cNvPr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8092132-6A0C-E507-37C6-C1C8C6CE9E5E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4A7C080-1511-31A8-5417-DD52D023408D}"/>
              </a:ext>
            </a:extLst>
          </p:cNvPr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D1698A9-5E14-F3A4-C3A7-E42A905D3355}"/>
              </a:ext>
            </a:extLst>
          </p:cNvPr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F9B1A8C-0EDE-3968-1856-F67973BECEAD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06A2EB8-21FD-F779-3EA5-9560E774CD64}"/>
              </a:ext>
            </a:extLst>
          </p:cNvPr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9282DA65-FBEC-A663-EE37-70603E7F27D6}"/>
              </a:ext>
            </a:extLst>
          </p:cNvPr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A5C82B80-D9D4-36B2-7221-0B6CBC952367}"/>
              </a:ext>
            </a:extLst>
          </p:cNvPr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A5C5065-1852-A4E7-90AF-1093590B41CD}"/>
              </a:ext>
            </a:extLst>
          </p:cNvPr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BF77D599-13D0-00D5-52D8-407B07B768D9}"/>
              </a:ext>
            </a:extLst>
          </p:cNvPr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FEA90A3D-E4F6-C6D5-6D04-59760A3D3D70}"/>
              </a:ext>
            </a:extLst>
          </p:cNvPr>
          <p:cNvCxnSpPr/>
          <p:nvPr/>
        </p:nvCxnSpPr>
        <p:spPr>
          <a:xfrm>
            <a:off x="0" y="25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33DF93C-C653-8EEC-A340-5A9553E6953B}"/>
              </a:ext>
            </a:extLst>
          </p:cNvPr>
          <p:cNvCxnSpPr/>
          <p:nvPr/>
        </p:nvCxnSpPr>
        <p:spPr>
          <a:xfrm>
            <a:off x="0" y="127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DBB41F3F-754F-E6B1-F5F8-D8B3C16E9334}"/>
              </a:ext>
            </a:extLst>
          </p:cNvPr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1C4DC6FE-6646-6024-6D4C-E0A072F7D260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6FCDE674-5022-ED11-A464-6C596CEA3029}"/>
              </a:ext>
            </a:extLst>
          </p:cNvPr>
          <p:cNvCxnSpPr/>
          <p:nvPr/>
        </p:nvCxnSpPr>
        <p:spPr>
          <a:xfrm>
            <a:off x="0" y="4318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F8AEA054-6AD2-5BCF-8D91-9EFF72F9DD10}"/>
              </a:ext>
            </a:extLst>
          </p:cNvPr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3A1414C-1AC5-73D5-085D-FD7840EA12D9}"/>
              </a:ext>
            </a:extLst>
          </p:cNvPr>
          <p:cNvCxnSpPr/>
          <p:nvPr/>
        </p:nvCxnSpPr>
        <p:spPr>
          <a:xfrm>
            <a:off x="0" y="635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ED7530C-299A-5150-9F4D-D1B49F255862}"/>
              </a:ext>
            </a:extLst>
          </p:cNvPr>
          <p:cNvSpPr txBox="1"/>
          <p:nvPr/>
        </p:nvSpPr>
        <p:spPr>
          <a:xfrm>
            <a:off x="533400" y="3048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>
                <a:solidFill>
                  <a:srgbClr val="00E2FF"/>
                </a:solidFill>
                <a:latin typeface="Montserrat" panose="00000500000000000000" pitchFamily="2" charset="-52"/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71B9E7-FE4E-4245-0F6B-83FA20B1B74A}"/>
              </a:ext>
            </a:extLst>
          </p:cNvPr>
          <p:cNvSpPr txBox="1"/>
          <p:nvPr/>
        </p:nvSpPr>
        <p:spPr>
          <a:xfrm>
            <a:off x="1270000" y="2921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89A4B9"/>
                </a:solidFill>
                <a:latin typeface="Montserrat" panose="00000500000000000000" pitchFamily="2" charset="-52"/>
              </a:rPr>
              <a:t>Дипломный проект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72A3A590-1C35-4885-551A-3606C12D9B1E}"/>
              </a:ext>
            </a:extLst>
          </p:cNvPr>
          <p:cNvCxnSpPr/>
          <p:nvPr/>
        </p:nvCxnSpPr>
        <p:spPr>
          <a:xfrm>
            <a:off x="533400" y="6388100"/>
            <a:ext cx="11125200" cy="0"/>
          </a:xfrm>
          <a:prstGeom prst="line">
            <a:avLst/>
          </a:prstGeom>
          <a:ln w="13970" cap="flat" cmpd="sng" algn="ctr">
            <a:solidFill>
              <a:srgbClr val="315670">
                <a:alpha val="5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3048ABF-AF64-6442-63EE-A22521498447}"/>
              </a:ext>
            </a:extLst>
          </p:cNvPr>
          <p:cNvSpPr txBox="1"/>
          <p:nvPr/>
        </p:nvSpPr>
        <p:spPr>
          <a:xfrm>
            <a:off x="533400" y="736600"/>
            <a:ext cx="876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EEFAFF"/>
                </a:solidFill>
                <a:latin typeface="Montserrat" panose="00000500000000000000" pitchFamily="2" charset="-52"/>
              </a:rPr>
              <a:t>Что разработано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3E8CA20-D45C-356C-59F5-E90E688B1631}"/>
              </a:ext>
            </a:extLst>
          </p:cNvPr>
          <p:cNvSpPr/>
          <p:nvPr/>
        </p:nvSpPr>
        <p:spPr>
          <a:xfrm>
            <a:off x="533400" y="1524000"/>
            <a:ext cx="13208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D28549-FE8B-4AA1-95BE-4D64DA6AB068}"/>
              </a:ext>
            </a:extLst>
          </p:cNvPr>
          <p:cNvSpPr txBox="1"/>
          <p:nvPr/>
        </p:nvSpPr>
        <p:spPr>
          <a:xfrm>
            <a:off x="533400" y="16764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89A4B9"/>
                </a:solidFill>
                <a:latin typeface="Montserrat" panose="00000500000000000000" pitchFamily="2" charset="-52"/>
              </a:rPr>
              <a:t>Не ролик отдельно, а работающий учебный веб-фрагмент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B7AD5B81-0ABB-9260-848C-023F0436EF63}"/>
              </a:ext>
            </a:extLst>
          </p:cNvPr>
          <p:cNvSpPr/>
          <p:nvPr/>
        </p:nvSpPr>
        <p:spPr>
          <a:xfrm>
            <a:off x="5588000" y="1677194"/>
            <a:ext cx="5664200" cy="3275012"/>
          </a:xfrm>
          <a:prstGeom prst="roundRect">
            <a:avLst/>
          </a:prstGeom>
          <a:solidFill>
            <a:srgbClr val="0E1827">
              <a:alpha val="78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F6A9076-320C-8C51-FCE0-1C824A85E10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0" y="1778794"/>
            <a:ext cx="5461000" cy="3071813"/>
          </a:xfrm>
          <a:prstGeom prst="rect">
            <a:avLst/>
          </a:prstGeom>
        </p:spPr>
      </p:pic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06382AF7-9C16-120A-4A30-4F88F571111A}"/>
              </a:ext>
            </a:extLst>
          </p:cNvPr>
          <p:cNvSpPr/>
          <p:nvPr/>
        </p:nvSpPr>
        <p:spPr>
          <a:xfrm>
            <a:off x="736600" y="2006600"/>
            <a:ext cx="1905000" cy="1016000"/>
          </a:xfrm>
          <a:prstGeom prst="roundRect">
            <a:avLst/>
          </a:prstGeom>
          <a:solidFill>
            <a:srgbClr val="0E1827">
              <a:alpha val="82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201FD4-4FD3-EB63-1D63-3C5E074835A1}"/>
              </a:ext>
            </a:extLst>
          </p:cNvPr>
          <p:cNvSpPr txBox="1"/>
          <p:nvPr/>
        </p:nvSpPr>
        <p:spPr>
          <a:xfrm>
            <a:off x="914400" y="2159000"/>
            <a:ext cx="1549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2800" b="1">
                <a:solidFill>
                  <a:srgbClr val="00E2FF"/>
                </a:solidFill>
                <a:latin typeface="Montserrat" panose="00000500000000000000" pitchFamily="2" charset="-52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B85F33-E7CA-30EF-F51B-65ABF59E7EA7}"/>
              </a:ext>
            </a:extLst>
          </p:cNvPr>
          <p:cNvSpPr txBox="1"/>
          <p:nvPr/>
        </p:nvSpPr>
        <p:spPr>
          <a:xfrm>
            <a:off x="914400" y="2641600"/>
            <a:ext cx="1549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>
                <a:solidFill>
                  <a:srgbClr val="89A4B9"/>
                </a:solidFill>
                <a:latin typeface="Montserrat" panose="00000500000000000000" pitchFamily="2" charset="-52"/>
              </a:rPr>
              <a:t>логические функции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467E9366-FB6C-6863-C113-1A88C70A021C}"/>
              </a:ext>
            </a:extLst>
          </p:cNvPr>
          <p:cNvSpPr/>
          <p:nvPr/>
        </p:nvSpPr>
        <p:spPr>
          <a:xfrm>
            <a:off x="2895600" y="2006600"/>
            <a:ext cx="1905000" cy="1016000"/>
          </a:xfrm>
          <a:prstGeom prst="roundRect">
            <a:avLst/>
          </a:prstGeom>
          <a:solidFill>
            <a:srgbClr val="0E1827">
              <a:alpha val="82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4BE86F-D45C-54B9-4C8E-E65FA7627782}"/>
              </a:ext>
            </a:extLst>
          </p:cNvPr>
          <p:cNvSpPr txBox="1"/>
          <p:nvPr/>
        </p:nvSpPr>
        <p:spPr>
          <a:xfrm>
            <a:off x="3073400" y="2159000"/>
            <a:ext cx="1549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2800" b="1">
                <a:solidFill>
                  <a:srgbClr val="3AFFB1"/>
                </a:solidFill>
                <a:latin typeface="Montserrat" panose="00000500000000000000" pitchFamily="2" charset="-52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D4AC24-53FD-255E-B254-6D1BB1021B84}"/>
              </a:ext>
            </a:extLst>
          </p:cNvPr>
          <p:cNvSpPr txBox="1"/>
          <p:nvPr/>
        </p:nvSpPr>
        <p:spPr>
          <a:xfrm>
            <a:off x="3073400" y="2641600"/>
            <a:ext cx="1549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>
                <a:solidFill>
                  <a:srgbClr val="89A4B9"/>
                </a:solidFill>
                <a:latin typeface="Montserrat" panose="00000500000000000000" pitchFamily="2" charset="-52"/>
              </a:rPr>
              <a:t>режима работы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F7392CC0-2DA1-0DEB-7D62-D8107F337228}"/>
              </a:ext>
            </a:extLst>
          </p:cNvPr>
          <p:cNvSpPr/>
          <p:nvPr/>
        </p:nvSpPr>
        <p:spPr>
          <a:xfrm>
            <a:off x="736600" y="3429000"/>
            <a:ext cx="1905000" cy="1016000"/>
          </a:xfrm>
          <a:prstGeom prst="roundRect">
            <a:avLst/>
          </a:prstGeom>
          <a:solidFill>
            <a:srgbClr val="0E1827">
              <a:alpha val="82000"/>
            </a:srgbClr>
          </a:solidFill>
          <a:ln w="13970" cap="flat" cmpd="sng" algn="ctr">
            <a:solidFill>
              <a:srgbClr val="2C86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06A776-6855-9C31-1054-FED964DA6DD0}"/>
              </a:ext>
            </a:extLst>
          </p:cNvPr>
          <p:cNvSpPr txBox="1"/>
          <p:nvPr/>
        </p:nvSpPr>
        <p:spPr>
          <a:xfrm>
            <a:off x="914400" y="3581400"/>
            <a:ext cx="1549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2800" b="1">
                <a:solidFill>
                  <a:srgbClr val="2C86FF"/>
                </a:solidFill>
                <a:latin typeface="Montserrat" panose="00000500000000000000" pitchFamily="2" charset="-52"/>
              </a:rPr>
              <a:t>100%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E2DA5C-FD72-E4C8-BDEA-9F848087C2FD}"/>
              </a:ext>
            </a:extLst>
          </p:cNvPr>
          <p:cNvSpPr txBox="1"/>
          <p:nvPr/>
        </p:nvSpPr>
        <p:spPr>
          <a:xfrm>
            <a:off x="914400" y="4064000"/>
            <a:ext cx="1549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>
                <a:solidFill>
                  <a:srgbClr val="89A4B9"/>
                </a:solidFill>
                <a:latin typeface="Montserrat" panose="00000500000000000000" pitchFamily="2" charset="-52"/>
              </a:rPr>
              <a:t>в браузере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2AAE59FD-BD51-98A9-6D0D-EB5A87DDB09C}"/>
              </a:ext>
            </a:extLst>
          </p:cNvPr>
          <p:cNvSpPr/>
          <p:nvPr/>
        </p:nvSpPr>
        <p:spPr>
          <a:xfrm>
            <a:off x="2895600" y="3429000"/>
            <a:ext cx="1905000" cy="1016000"/>
          </a:xfrm>
          <a:prstGeom prst="roundRect">
            <a:avLst/>
          </a:prstGeom>
          <a:solidFill>
            <a:srgbClr val="0E1827">
              <a:alpha val="82000"/>
            </a:srgbClr>
          </a:solidFill>
          <a:ln w="13970" cap="flat" cmpd="sng" algn="ctr">
            <a:solidFill>
              <a:srgbClr val="FFC757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9598C2-88FC-E8FF-DA2F-C7F8EDE7286C}"/>
              </a:ext>
            </a:extLst>
          </p:cNvPr>
          <p:cNvSpPr txBox="1"/>
          <p:nvPr/>
        </p:nvSpPr>
        <p:spPr>
          <a:xfrm>
            <a:off x="3073400" y="3581400"/>
            <a:ext cx="1549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800" b="1">
                <a:solidFill>
                  <a:srgbClr val="FFC757"/>
                </a:solidFill>
                <a:latin typeface="Montserrat" panose="00000500000000000000" pitchFamily="2" charset="-52"/>
              </a:rPr>
              <a:t>Y</a:t>
            </a:r>
            <a:endParaRPr lang="ru-RU" sz="2800" b="1">
              <a:solidFill>
                <a:srgbClr val="FFC757"/>
              </a:solidFill>
              <a:latin typeface="Montserrat" panose="00000500000000000000" pitchFamily="2" charset="-52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C58BED-16CB-054F-B74A-85BC05196F6D}"/>
              </a:ext>
            </a:extLst>
          </p:cNvPr>
          <p:cNvSpPr txBox="1"/>
          <p:nvPr/>
        </p:nvSpPr>
        <p:spPr>
          <a:xfrm>
            <a:off x="3073400" y="4064000"/>
            <a:ext cx="1549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>
                <a:solidFill>
                  <a:srgbClr val="89A4B9"/>
                </a:solidFill>
                <a:latin typeface="Montserrat" panose="00000500000000000000" pitchFamily="2" charset="-52"/>
              </a:rPr>
              <a:t>выход схемы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723431-841C-A6E3-1050-5DDC63C4F837}"/>
              </a:ext>
            </a:extLst>
          </p:cNvPr>
          <p:cNvSpPr txBox="1"/>
          <p:nvPr/>
        </p:nvSpPr>
        <p:spPr>
          <a:xfrm>
            <a:off x="787400" y="5359400"/>
            <a:ext cx="104902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500">
                <a:solidFill>
                  <a:srgbClr val="89A4B9"/>
                </a:solidFill>
                <a:latin typeface="Montserrat" panose="00000500000000000000" pitchFamily="2" charset="-52"/>
              </a:rPr>
              <a:t>Результат включает 3D-плату, анимацию сигнала, таблицу истинности, переключатели входов, сценарий мини-видео и режим самостоятельной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232321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9C7558-1554-E9DA-62F3-598FB14887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C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DD25A775-5083-5BEB-7495-7AC56B319F52}"/>
              </a:ext>
            </a:extLst>
          </p:cNvPr>
          <p:cNvSpPr/>
          <p:nvPr/>
        </p:nvSpPr>
        <p:spPr>
          <a:xfrm>
            <a:off x="-1714500" y="-1524000"/>
            <a:ext cx="4318000" cy="4318000"/>
          </a:xfrm>
          <a:prstGeom prst="ellipse">
            <a:avLst/>
          </a:prstGeom>
          <a:solidFill>
            <a:srgbClr val="2C86FF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01445CB1-013B-CF86-2A12-78A11378C6DF}"/>
              </a:ext>
            </a:extLst>
          </p:cNvPr>
          <p:cNvSpPr/>
          <p:nvPr/>
        </p:nvSpPr>
        <p:spPr>
          <a:xfrm>
            <a:off x="9652000" y="4254500"/>
            <a:ext cx="3556000" cy="3556000"/>
          </a:xfrm>
          <a:prstGeom prst="ellipse">
            <a:avLst/>
          </a:prstGeom>
          <a:solidFill>
            <a:srgbClr val="3AFFB1">
              <a:alpha val="1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AEA27DF-065E-872C-673E-9A79089B149D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574B549-EA91-5014-D0C7-43C0F7B85A22}"/>
              </a:ext>
            </a:extLst>
          </p:cNvPr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7203BA3-84E9-58B7-87A5-D9FF0D50A16A}"/>
              </a:ext>
            </a:extLst>
          </p:cNvPr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5F45D4E-1936-DAD1-1976-76F19542C5F6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6E34B66-3503-AA4A-08A9-6D4DAD699705}"/>
              </a:ext>
            </a:extLst>
          </p:cNvPr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F26D15D-0543-85E7-0225-CDFE6763DC6A}"/>
              </a:ext>
            </a:extLst>
          </p:cNvPr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EAB5CE9-6A56-C7BC-ACB6-A728891D02B7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B5497EA-0795-C202-CE18-A8C887082FAD}"/>
              </a:ext>
            </a:extLst>
          </p:cNvPr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101FA2BF-AC5F-BC7D-4E5F-C8D1ACD0C6A2}"/>
              </a:ext>
            </a:extLst>
          </p:cNvPr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D1AB226D-D488-3220-E942-0E1D251655F7}"/>
              </a:ext>
            </a:extLst>
          </p:cNvPr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BED7017-52CE-6FED-DE9E-2B203E2578AC}"/>
              </a:ext>
            </a:extLst>
          </p:cNvPr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F5C70C2F-D99C-8094-5E75-1B8F40320C4D}"/>
              </a:ext>
            </a:extLst>
          </p:cNvPr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B079C7D3-083C-2960-6CC2-C3DC7401BC98}"/>
              </a:ext>
            </a:extLst>
          </p:cNvPr>
          <p:cNvCxnSpPr/>
          <p:nvPr/>
        </p:nvCxnSpPr>
        <p:spPr>
          <a:xfrm>
            <a:off x="0" y="25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CAC2B5FE-032C-B7B9-97EB-E1359A4FD32B}"/>
              </a:ext>
            </a:extLst>
          </p:cNvPr>
          <p:cNvCxnSpPr/>
          <p:nvPr/>
        </p:nvCxnSpPr>
        <p:spPr>
          <a:xfrm>
            <a:off x="0" y="127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444C9BB6-5074-413E-BE00-3490DBF63171}"/>
              </a:ext>
            </a:extLst>
          </p:cNvPr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D84BD740-D5C6-F673-2A2E-7E883A46653C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CF4F9C49-9072-B238-A6DC-5F5CB094ACCB}"/>
              </a:ext>
            </a:extLst>
          </p:cNvPr>
          <p:cNvCxnSpPr/>
          <p:nvPr/>
        </p:nvCxnSpPr>
        <p:spPr>
          <a:xfrm>
            <a:off x="0" y="4318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1096CF92-0ADA-2450-F4A9-AEBBCB747C21}"/>
              </a:ext>
            </a:extLst>
          </p:cNvPr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892DE9E-720E-4483-C302-648E630146B2}"/>
              </a:ext>
            </a:extLst>
          </p:cNvPr>
          <p:cNvCxnSpPr/>
          <p:nvPr/>
        </p:nvCxnSpPr>
        <p:spPr>
          <a:xfrm>
            <a:off x="0" y="635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EFF3CA0-919C-5BE2-A039-E8D59E57CB39}"/>
              </a:ext>
            </a:extLst>
          </p:cNvPr>
          <p:cNvSpPr txBox="1"/>
          <p:nvPr/>
        </p:nvSpPr>
        <p:spPr>
          <a:xfrm>
            <a:off x="533400" y="3048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>
                <a:solidFill>
                  <a:srgbClr val="00E2FF"/>
                </a:solidFill>
                <a:latin typeface="Montserrat" panose="00000500000000000000" pitchFamily="2" charset="-52"/>
              </a:rPr>
              <a:t>05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9C481A-D2F4-8FF7-EEE2-00DFDAB011A2}"/>
              </a:ext>
            </a:extLst>
          </p:cNvPr>
          <p:cNvSpPr txBox="1"/>
          <p:nvPr/>
        </p:nvSpPr>
        <p:spPr>
          <a:xfrm>
            <a:off x="1270000" y="2921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89A4B9"/>
                </a:solidFill>
                <a:latin typeface="Montserrat" panose="00000500000000000000" pitchFamily="2" charset="-52"/>
              </a:rPr>
              <a:t>Дипломный проект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41058512-666A-397E-D680-D4C89B7B03E4}"/>
              </a:ext>
            </a:extLst>
          </p:cNvPr>
          <p:cNvCxnSpPr/>
          <p:nvPr/>
        </p:nvCxnSpPr>
        <p:spPr>
          <a:xfrm>
            <a:off x="533400" y="6388100"/>
            <a:ext cx="11125200" cy="0"/>
          </a:xfrm>
          <a:prstGeom prst="line">
            <a:avLst/>
          </a:prstGeom>
          <a:ln w="13970" cap="flat" cmpd="sng" algn="ctr">
            <a:solidFill>
              <a:srgbClr val="315670">
                <a:alpha val="5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95AE5F9-B278-F77E-4F9F-F8F586A6961E}"/>
              </a:ext>
            </a:extLst>
          </p:cNvPr>
          <p:cNvSpPr txBox="1"/>
          <p:nvPr/>
        </p:nvSpPr>
        <p:spPr>
          <a:xfrm>
            <a:off x="533400" y="736600"/>
            <a:ext cx="876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EEFAFF"/>
                </a:solidFill>
                <a:latin typeface="Montserrat" panose="00000500000000000000" pitchFamily="2" charset="-52"/>
              </a:rPr>
              <a:t>Архитектура приложения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E01A906-B774-6459-E9F3-7C50C4B5DE8A}"/>
              </a:ext>
            </a:extLst>
          </p:cNvPr>
          <p:cNvSpPr/>
          <p:nvPr/>
        </p:nvSpPr>
        <p:spPr>
          <a:xfrm>
            <a:off x="533400" y="1524000"/>
            <a:ext cx="13208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703B36-DDAE-3E90-0C77-F58B1A64B549}"/>
              </a:ext>
            </a:extLst>
          </p:cNvPr>
          <p:cNvSpPr txBox="1"/>
          <p:nvPr/>
        </p:nvSpPr>
        <p:spPr>
          <a:xfrm>
            <a:off x="533400" y="16764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89A4B9"/>
                </a:solidFill>
                <a:latin typeface="Montserrat" panose="00000500000000000000" pitchFamily="2" charset="-52"/>
              </a:rPr>
              <a:t>Клиентская реализация без серверной логики и базы данных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AE89DA8D-F6A2-564B-8362-201C4063C645}"/>
              </a:ext>
            </a:extLst>
          </p:cNvPr>
          <p:cNvSpPr/>
          <p:nvPr/>
        </p:nvSpPr>
        <p:spPr>
          <a:xfrm>
            <a:off x="838200" y="2286000"/>
            <a:ext cx="2133600" cy="12192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2C86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28C4FBA-3B55-3AE1-2C5C-93CCD82A953D}"/>
              </a:ext>
            </a:extLst>
          </p:cNvPr>
          <p:cNvSpPr/>
          <p:nvPr/>
        </p:nvSpPr>
        <p:spPr>
          <a:xfrm>
            <a:off x="1041400" y="2489200"/>
            <a:ext cx="533400" cy="50800"/>
          </a:xfrm>
          <a:prstGeom prst="rect">
            <a:avLst/>
          </a:prstGeom>
          <a:solidFill>
            <a:srgbClr val="2C8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9022D7-9402-6034-3D17-A721CEFAC06F}"/>
              </a:ext>
            </a:extLst>
          </p:cNvPr>
          <p:cNvSpPr txBox="1"/>
          <p:nvPr/>
        </p:nvSpPr>
        <p:spPr>
          <a:xfrm>
            <a:off x="1041400" y="2654300"/>
            <a:ext cx="1727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EEFAFF"/>
                </a:solidFill>
                <a:latin typeface="Montserrat" panose="00000500000000000000" pitchFamily="2" charset="-52"/>
              </a:rPr>
              <a:t>HTML / CSS</a:t>
            </a:r>
            <a:endParaRPr lang="ru-RU" sz="150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A48329-ED24-D7E4-C968-462F629582F4}"/>
              </a:ext>
            </a:extLst>
          </p:cNvPr>
          <p:cNvSpPr txBox="1"/>
          <p:nvPr/>
        </p:nvSpPr>
        <p:spPr>
          <a:xfrm>
            <a:off x="1041400" y="3098800"/>
            <a:ext cx="1727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интерфейс и панели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10BCF66A-FE81-7D1C-B033-322F8533415D}"/>
              </a:ext>
            </a:extLst>
          </p:cNvPr>
          <p:cNvSpPr/>
          <p:nvPr/>
        </p:nvSpPr>
        <p:spPr>
          <a:xfrm>
            <a:off x="3530600" y="2286000"/>
            <a:ext cx="2133600" cy="12192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5FD8DBE0-9080-2DCC-DE4D-74425CA7D9E1}"/>
              </a:ext>
            </a:extLst>
          </p:cNvPr>
          <p:cNvSpPr/>
          <p:nvPr/>
        </p:nvSpPr>
        <p:spPr>
          <a:xfrm>
            <a:off x="3733800" y="2489200"/>
            <a:ext cx="5334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820C03-DEC3-66BE-E03B-527B2F6646CB}"/>
              </a:ext>
            </a:extLst>
          </p:cNvPr>
          <p:cNvSpPr txBox="1"/>
          <p:nvPr/>
        </p:nvSpPr>
        <p:spPr>
          <a:xfrm>
            <a:off x="3733800" y="2654300"/>
            <a:ext cx="1727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EEFAFF"/>
                </a:solidFill>
                <a:latin typeface="Montserrat" panose="00000500000000000000" pitchFamily="2" charset="-52"/>
              </a:rPr>
              <a:t>TypeScript</a:t>
            </a:r>
            <a:endParaRPr lang="ru-RU" sz="150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083436-49E3-7907-D3E0-629E117E2AB8}"/>
              </a:ext>
            </a:extLst>
          </p:cNvPr>
          <p:cNvSpPr txBox="1"/>
          <p:nvPr/>
        </p:nvSpPr>
        <p:spPr>
          <a:xfrm>
            <a:off x="3733800" y="3098800"/>
            <a:ext cx="1727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состояние и логика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3AFB3B0F-8F78-AA64-F3CF-F80DA8CF8916}"/>
              </a:ext>
            </a:extLst>
          </p:cNvPr>
          <p:cNvSpPr/>
          <p:nvPr/>
        </p:nvSpPr>
        <p:spPr>
          <a:xfrm>
            <a:off x="6223000" y="2286000"/>
            <a:ext cx="2133600" cy="12192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8CCEEF5-7085-8CD0-DBD2-7AEF8A83127A}"/>
              </a:ext>
            </a:extLst>
          </p:cNvPr>
          <p:cNvSpPr/>
          <p:nvPr/>
        </p:nvSpPr>
        <p:spPr>
          <a:xfrm>
            <a:off x="6426200" y="2489200"/>
            <a:ext cx="533400" cy="50800"/>
          </a:xfrm>
          <a:prstGeom prst="rect">
            <a:avLst/>
          </a:prstGeom>
          <a:solidFill>
            <a:srgbClr val="3AFFB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628A64-AFD5-B5BB-71E7-0722C1B14BD1}"/>
              </a:ext>
            </a:extLst>
          </p:cNvPr>
          <p:cNvSpPr txBox="1"/>
          <p:nvPr/>
        </p:nvSpPr>
        <p:spPr>
          <a:xfrm>
            <a:off x="6426200" y="2654300"/>
            <a:ext cx="1727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EEFAFF"/>
                </a:solidFill>
                <a:latin typeface="Montserrat" panose="00000500000000000000" pitchFamily="2" charset="-52"/>
              </a:rPr>
              <a:t>Three.js</a:t>
            </a:r>
            <a:endParaRPr lang="ru-RU" sz="150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033752-965C-EB68-6B39-98D70D7988C2}"/>
              </a:ext>
            </a:extLst>
          </p:cNvPr>
          <p:cNvSpPr txBox="1"/>
          <p:nvPr/>
        </p:nvSpPr>
        <p:spPr>
          <a:xfrm>
            <a:off x="6426200" y="3098800"/>
            <a:ext cx="1727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89A4B9"/>
                </a:solidFill>
                <a:latin typeface="Montserrat" panose="00000500000000000000" pitchFamily="2" charset="-52"/>
              </a:rPr>
              <a:t>3D-</a:t>
            </a:r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сцена и камера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0DFE1CA3-FBAB-2F61-D8DA-327E1DA5747A}"/>
              </a:ext>
            </a:extLst>
          </p:cNvPr>
          <p:cNvSpPr/>
          <p:nvPr/>
        </p:nvSpPr>
        <p:spPr>
          <a:xfrm>
            <a:off x="8915400" y="2286000"/>
            <a:ext cx="2133600" cy="12192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FFC757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B4F93417-CC72-B52C-BF3A-A2A1C6ECAC5A}"/>
              </a:ext>
            </a:extLst>
          </p:cNvPr>
          <p:cNvSpPr/>
          <p:nvPr/>
        </p:nvSpPr>
        <p:spPr>
          <a:xfrm>
            <a:off x="9118600" y="2489200"/>
            <a:ext cx="533400" cy="50800"/>
          </a:xfrm>
          <a:prstGeom prst="rect">
            <a:avLst/>
          </a:prstGeom>
          <a:solidFill>
            <a:srgbClr val="FFC7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1109E0-A786-0375-91F6-63A5639D8E96}"/>
              </a:ext>
            </a:extLst>
          </p:cNvPr>
          <p:cNvSpPr txBox="1"/>
          <p:nvPr/>
        </p:nvSpPr>
        <p:spPr>
          <a:xfrm>
            <a:off x="9118600" y="2654300"/>
            <a:ext cx="1727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EEFAFF"/>
                </a:solidFill>
                <a:latin typeface="Montserrat" panose="00000500000000000000" pitchFamily="2" charset="-52"/>
              </a:rPr>
              <a:t>GSAP</a:t>
            </a:r>
            <a:endParaRPr lang="ru-RU" sz="150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6FBCAD-EF3C-77F2-901B-7521590A1DBA}"/>
              </a:ext>
            </a:extLst>
          </p:cNvPr>
          <p:cNvSpPr txBox="1"/>
          <p:nvPr/>
        </p:nvSpPr>
        <p:spPr>
          <a:xfrm>
            <a:off x="9118600" y="3098800"/>
            <a:ext cx="1727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плавные переходы</a:t>
            </a: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575E57DA-3263-5FD2-5A29-83BAFCC9A514}"/>
              </a:ext>
            </a:extLst>
          </p:cNvPr>
          <p:cNvCxnSpPr/>
          <p:nvPr/>
        </p:nvCxnSpPr>
        <p:spPr>
          <a:xfrm>
            <a:off x="2971800" y="2895600"/>
            <a:ext cx="508000" cy="0"/>
          </a:xfrm>
          <a:prstGeom prst="line">
            <a:avLst/>
          </a:prstGeom>
          <a:ln w="35560" cap="flat" cmpd="sng" algn="ctr">
            <a:solidFill>
              <a:srgbClr val="00E2FF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34DC6D77-7A07-6527-8635-8B4AB3A1BB81}"/>
              </a:ext>
            </a:extLst>
          </p:cNvPr>
          <p:cNvCxnSpPr/>
          <p:nvPr/>
        </p:nvCxnSpPr>
        <p:spPr>
          <a:xfrm>
            <a:off x="5664200" y="2895600"/>
            <a:ext cx="508000" cy="0"/>
          </a:xfrm>
          <a:prstGeom prst="line">
            <a:avLst/>
          </a:prstGeom>
          <a:ln w="35560" cap="flat" cmpd="sng" algn="ctr">
            <a:solidFill>
              <a:srgbClr val="00E2FF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20DFAE17-9A75-5D9D-518A-9ACAF812A73A}"/>
              </a:ext>
            </a:extLst>
          </p:cNvPr>
          <p:cNvCxnSpPr/>
          <p:nvPr/>
        </p:nvCxnSpPr>
        <p:spPr>
          <a:xfrm>
            <a:off x="8356600" y="2895600"/>
            <a:ext cx="508000" cy="0"/>
          </a:xfrm>
          <a:prstGeom prst="line">
            <a:avLst/>
          </a:prstGeom>
          <a:ln w="35560" cap="flat" cmpd="sng" algn="ctr">
            <a:solidFill>
              <a:srgbClr val="00E2FF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ADB72404-764D-074A-74BF-552356745E6E}"/>
              </a:ext>
            </a:extLst>
          </p:cNvPr>
          <p:cNvSpPr/>
          <p:nvPr/>
        </p:nvSpPr>
        <p:spPr>
          <a:xfrm>
            <a:off x="2235200" y="4267200"/>
            <a:ext cx="7721600" cy="914400"/>
          </a:xfrm>
          <a:prstGeom prst="roundRect">
            <a:avLst/>
          </a:prstGeom>
          <a:solidFill>
            <a:srgbClr val="0E1827">
              <a:alpha val="90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23434A-3B33-8A7A-4C88-750FD1C6384C}"/>
              </a:ext>
            </a:extLst>
          </p:cNvPr>
          <p:cNvSpPr txBox="1"/>
          <p:nvPr/>
        </p:nvSpPr>
        <p:spPr>
          <a:xfrm>
            <a:off x="4013200" y="4470400"/>
            <a:ext cx="419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2000" b="1">
                <a:solidFill>
                  <a:srgbClr val="EEFAFF"/>
                </a:solidFill>
                <a:latin typeface="Montserrat" panose="00000500000000000000" pitchFamily="2" charset="-52"/>
              </a:rPr>
              <a:t>Браузерное приложение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5F5489-B420-741F-AACC-471B20B80562}"/>
              </a:ext>
            </a:extLst>
          </p:cNvPr>
          <p:cNvSpPr txBox="1"/>
          <p:nvPr/>
        </p:nvSpPr>
        <p:spPr>
          <a:xfrm>
            <a:off x="3073400" y="4851400"/>
            <a:ext cx="6045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200">
                <a:solidFill>
                  <a:srgbClr val="89A4B9"/>
                </a:solidFill>
                <a:latin typeface="Montserrat" panose="00000500000000000000" pitchFamily="2" charset="-52"/>
              </a:rPr>
              <a:t>после сборки размещается как статические HTML, CSS и JavaScript-файлы</a:t>
            </a: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7D84B86B-E6F3-8778-4315-7372C2A102E5}"/>
              </a:ext>
            </a:extLst>
          </p:cNvPr>
          <p:cNvSpPr/>
          <p:nvPr/>
        </p:nvSpPr>
        <p:spPr>
          <a:xfrm>
            <a:off x="5207000" y="5588000"/>
            <a:ext cx="1778000" cy="355600"/>
          </a:xfrm>
          <a:prstGeom prst="roundRect">
            <a:avLst/>
          </a:prstGeom>
          <a:solidFill>
            <a:srgbClr val="122237">
              <a:alpha val="95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431C4E-2334-8B7D-9964-E2C0BFC692EC}"/>
              </a:ext>
            </a:extLst>
          </p:cNvPr>
          <p:cNvSpPr txBox="1"/>
          <p:nvPr/>
        </p:nvSpPr>
        <p:spPr>
          <a:xfrm>
            <a:off x="5308600" y="56769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 b="1">
                <a:solidFill>
                  <a:srgbClr val="EEFAFF"/>
                </a:solidFill>
                <a:latin typeface="Montserrat" panose="00000500000000000000" pitchFamily="2" charset="-52"/>
              </a:rPr>
              <a:t>GitHub Pages</a:t>
            </a:r>
            <a:endParaRPr lang="ru-RU" sz="105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232586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AC9EC66-CD19-6B8E-39CC-62E9857305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C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60088EF8-E04B-8C17-711B-3A40FF32EC06}"/>
              </a:ext>
            </a:extLst>
          </p:cNvPr>
          <p:cNvSpPr/>
          <p:nvPr/>
        </p:nvSpPr>
        <p:spPr>
          <a:xfrm>
            <a:off x="-1714500" y="-1524000"/>
            <a:ext cx="4318000" cy="4318000"/>
          </a:xfrm>
          <a:prstGeom prst="ellipse">
            <a:avLst/>
          </a:prstGeom>
          <a:solidFill>
            <a:srgbClr val="2C86FF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0FFD505B-C034-7723-3285-770DE4A0E6CC}"/>
              </a:ext>
            </a:extLst>
          </p:cNvPr>
          <p:cNvSpPr/>
          <p:nvPr/>
        </p:nvSpPr>
        <p:spPr>
          <a:xfrm>
            <a:off x="9652000" y="4254500"/>
            <a:ext cx="3556000" cy="3556000"/>
          </a:xfrm>
          <a:prstGeom prst="ellipse">
            <a:avLst/>
          </a:prstGeom>
          <a:solidFill>
            <a:srgbClr val="3AFFB1">
              <a:alpha val="1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E2CF0AE-E90D-BC10-FB4D-6FF198B4E0E2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6898157-80CE-D676-3F1D-F158210657FA}"/>
              </a:ext>
            </a:extLst>
          </p:cNvPr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7596AF-B453-643B-591F-54C64815CFCF}"/>
              </a:ext>
            </a:extLst>
          </p:cNvPr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9E7A1DD-17DF-5FFF-1D04-0BFF08414CD9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4C79094-B8A1-8E0F-C1D6-48EF28B2963F}"/>
              </a:ext>
            </a:extLst>
          </p:cNvPr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30A569E5-54C2-7045-B0A5-115FD73E1A52}"/>
              </a:ext>
            </a:extLst>
          </p:cNvPr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4B54BE4-20B7-0A27-4D69-C4B179B336A0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0C7010D-10E5-4820-776C-08685BA12D4E}"/>
              </a:ext>
            </a:extLst>
          </p:cNvPr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1E44A457-66F3-41DC-E819-1E0784B25D64}"/>
              </a:ext>
            </a:extLst>
          </p:cNvPr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40D9B70-F2FA-0FC8-0C05-A7B75693B050}"/>
              </a:ext>
            </a:extLst>
          </p:cNvPr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D0027EA-BC94-0C67-9B3F-C9A4A5FF7042}"/>
              </a:ext>
            </a:extLst>
          </p:cNvPr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FBE63D4-5728-660E-33DE-9CBE2F1675EF}"/>
              </a:ext>
            </a:extLst>
          </p:cNvPr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AA4EA2AC-13FE-2E09-1FF8-1EFE79E39DDF}"/>
              </a:ext>
            </a:extLst>
          </p:cNvPr>
          <p:cNvCxnSpPr/>
          <p:nvPr/>
        </p:nvCxnSpPr>
        <p:spPr>
          <a:xfrm>
            <a:off x="0" y="25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553D6D80-1907-1FCB-7CB8-B4EDC7C4DBC7}"/>
              </a:ext>
            </a:extLst>
          </p:cNvPr>
          <p:cNvCxnSpPr/>
          <p:nvPr/>
        </p:nvCxnSpPr>
        <p:spPr>
          <a:xfrm>
            <a:off x="0" y="127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88FC04C-66D6-6727-291F-083F0C7996CD}"/>
              </a:ext>
            </a:extLst>
          </p:cNvPr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97F4130-B4F9-3959-6DE7-ADBF5EAF0299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639FB445-3123-9FA5-948B-9EB87FF96813}"/>
              </a:ext>
            </a:extLst>
          </p:cNvPr>
          <p:cNvCxnSpPr/>
          <p:nvPr/>
        </p:nvCxnSpPr>
        <p:spPr>
          <a:xfrm>
            <a:off x="0" y="4318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5E57598-415A-84D2-C4BE-E6867BDC8F98}"/>
              </a:ext>
            </a:extLst>
          </p:cNvPr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3FA14A7-30E9-3431-D9D7-0009033F01EC}"/>
              </a:ext>
            </a:extLst>
          </p:cNvPr>
          <p:cNvCxnSpPr/>
          <p:nvPr/>
        </p:nvCxnSpPr>
        <p:spPr>
          <a:xfrm>
            <a:off x="0" y="635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1B236C7-C872-1BC7-1E09-B42BAB1947D7}"/>
              </a:ext>
            </a:extLst>
          </p:cNvPr>
          <p:cNvSpPr txBox="1"/>
          <p:nvPr/>
        </p:nvSpPr>
        <p:spPr>
          <a:xfrm>
            <a:off x="533400" y="3048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>
                <a:solidFill>
                  <a:srgbClr val="00E2FF"/>
                </a:solidFill>
                <a:latin typeface="Montserrat" panose="00000500000000000000" pitchFamily="2" charset="-52"/>
              </a:rPr>
              <a:t>06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73F578-83BE-3763-DBEB-9EF5B57CCE08}"/>
              </a:ext>
            </a:extLst>
          </p:cNvPr>
          <p:cNvSpPr txBox="1"/>
          <p:nvPr/>
        </p:nvSpPr>
        <p:spPr>
          <a:xfrm>
            <a:off x="1270000" y="2921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89A4B9"/>
                </a:solidFill>
                <a:latin typeface="Montserrat" panose="00000500000000000000" pitchFamily="2" charset="-52"/>
              </a:rPr>
              <a:t>Дипломный проект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6351E1E2-9DEF-3FAF-AFCF-79048B846B9A}"/>
              </a:ext>
            </a:extLst>
          </p:cNvPr>
          <p:cNvCxnSpPr/>
          <p:nvPr/>
        </p:nvCxnSpPr>
        <p:spPr>
          <a:xfrm>
            <a:off x="533400" y="6388100"/>
            <a:ext cx="11125200" cy="0"/>
          </a:xfrm>
          <a:prstGeom prst="line">
            <a:avLst/>
          </a:prstGeom>
          <a:ln w="13970" cap="flat" cmpd="sng" algn="ctr">
            <a:solidFill>
              <a:srgbClr val="315670">
                <a:alpha val="5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1CB34CA-A44A-9D3D-3AF4-0B5D908EEF4F}"/>
              </a:ext>
            </a:extLst>
          </p:cNvPr>
          <p:cNvSpPr txBox="1"/>
          <p:nvPr/>
        </p:nvSpPr>
        <p:spPr>
          <a:xfrm>
            <a:off x="533400" y="736600"/>
            <a:ext cx="876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EEFAFF"/>
                </a:solidFill>
                <a:latin typeface="Montserrat" panose="00000500000000000000" pitchFamily="2" charset="-52"/>
              </a:rPr>
              <a:t>Сценарий мини-видео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CE6AD09-798E-FB69-E5CC-E50821EB244F}"/>
              </a:ext>
            </a:extLst>
          </p:cNvPr>
          <p:cNvSpPr/>
          <p:nvPr/>
        </p:nvSpPr>
        <p:spPr>
          <a:xfrm>
            <a:off x="533400" y="1524000"/>
            <a:ext cx="13208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FDBFDD-896F-6CA2-D8A0-DDD3478EED13}"/>
              </a:ext>
            </a:extLst>
          </p:cNvPr>
          <p:cNvSpPr txBox="1"/>
          <p:nvPr/>
        </p:nvSpPr>
        <p:spPr>
          <a:xfrm>
            <a:off x="533400" y="16764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89A4B9"/>
                </a:solidFill>
                <a:latin typeface="Montserrat" panose="00000500000000000000" pitchFamily="2" charset="-52"/>
              </a:rPr>
              <a:t>Автоматический показ ведет зрителя от базовой идеи к проверке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C52B6CC7-735C-2058-2C32-5B52D7194BC0}"/>
              </a:ext>
            </a:extLst>
          </p:cNvPr>
          <p:cNvSpPr/>
          <p:nvPr/>
        </p:nvSpPr>
        <p:spPr>
          <a:xfrm>
            <a:off x="6858000" y="1453243"/>
            <a:ext cx="4394200" cy="2478314"/>
          </a:xfrm>
          <a:prstGeom prst="roundRect">
            <a:avLst/>
          </a:prstGeom>
          <a:solidFill>
            <a:srgbClr val="0E1827">
              <a:alpha val="78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B207856-2032-A913-5367-03BDC831E31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600" y="1554843"/>
            <a:ext cx="4191000" cy="2275114"/>
          </a:xfrm>
          <a:prstGeom prst="rect">
            <a:avLst/>
          </a:prstGeom>
        </p:spPr>
      </p:pic>
      <p:sp>
        <p:nvSpPr>
          <p:cNvPr id="33" name="Овал 32">
            <a:extLst>
              <a:ext uri="{FF2B5EF4-FFF2-40B4-BE49-F238E27FC236}">
                <a16:creationId xmlns:a16="http://schemas.microsoft.com/office/drawing/2014/main" id="{AE7318B9-907E-C9D2-82F2-734DF79C60D1}"/>
              </a:ext>
            </a:extLst>
          </p:cNvPr>
          <p:cNvSpPr/>
          <p:nvPr/>
        </p:nvSpPr>
        <p:spPr>
          <a:xfrm>
            <a:off x="939800" y="4267200"/>
            <a:ext cx="685800" cy="685800"/>
          </a:xfrm>
          <a:prstGeom prst="ellipse">
            <a:avLst/>
          </a:prstGeom>
          <a:solidFill>
            <a:srgbClr val="00E2FF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E0AEB9-89B8-C03A-BEB2-2C225E23211B}"/>
              </a:ext>
            </a:extLst>
          </p:cNvPr>
          <p:cNvSpPr txBox="1"/>
          <p:nvPr/>
        </p:nvSpPr>
        <p:spPr>
          <a:xfrm>
            <a:off x="1092200" y="4445000"/>
            <a:ext cx="38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>
                <a:solidFill>
                  <a:srgbClr val="070C16"/>
                </a:solidFill>
                <a:latin typeface="Montserrat" panose="00000500000000000000" pitchFamily="2" charset="-52"/>
              </a:rPr>
              <a:t>01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351714-0241-55A9-3B9F-A60C7DC8C985}"/>
              </a:ext>
            </a:extLst>
          </p:cNvPr>
          <p:cNvSpPr txBox="1"/>
          <p:nvPr/>
        </p:nvSpPr>
        <p:spPr>
          <a:xfrm>
            <a:off x="482600" y="5130800"/>
            <a:ext cx="1600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400" b="1">
                <a:solidFill>
                  <a:srgbClr val="EEFAFF"/>
                </a:solidFill>
                <a:latin typeface="Montserrat" panose="00000500000000000000" pitchFamily="2" charset="-52"/>
              </a:rPr>
              <a:t>Введение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98E221-9950-BA2B-186A-721B483F8BD6}"/>
              </a:ext>
            </a:extLst>
          </p:cNvPr>
          <p:cNvSpPr txBox="1"/>
          <p:nvPr/>
        </p:nvSpPr>
        <p:spPr>
          <a:xfrm>
            <a:off x="279400" y="5410200"/>
            <a:ext cx="1981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>
                <a:solidFill>
                  <a:srgbClr val="89A4B9"/>
                </a:solidFill>
                <a:latin typeface="Montserrat" panose="00000500000000000000" pitchFamily="2" charset="-52"/>
              </a:rPr>
              <a:t>логический 0/1, вход и выход</a:t>
            </a: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8225BF70-A67F-261E-8E5E-75724773B69C}"/>
              </a:ext>
            </a:extLst>
          </p:cNvPr>
          <p:cNvSpPr/>
          <p:nvPr/>
        </p:nvSpPr>
        <p:spPr>
          <a:xfrm>
            <a:off x="3022600" y="4267200"/>
            <a:ext cx="685800" cy="685800"/>
          </a:xfrm>
          <a:prstGeom prst="ellipse">
            <a:avLst/>
          </a:prstGeom>
          <a:solidFill>
            <a:srgbClr val="3AFFB1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FB8DBD-75A6-53EC-8BC3-76B1B4F2DACF}"/>
              </a:ext>
            </a:extLst>
          </p:cNvPr>
          <p:cNvSpPr txBox="1"/>
          <p:nvPr/>
        </p:nvSpPr>
        <p:spPr>
          <a:xfrm>
            <a:off x="3175000" y="4445000"/>
            <a:ext cx="38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>
                <a:solidFill>
                  <a:srgbClr val="070C16"/>
                </a:solidFill>
                <a:latin typeface="Montserrat" panose="00000500000000000000" pitchFamily="2" charset="-52"/>
              </a:rPr>
              <a:t>02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571DFA-75F1-04D7-5BF1-7C47FB102C15}"/>
              </a:ext>
            </a:extLst>
          </p:cNvPr>
          <p:cNvSpPr txBox="1"/>
          <p:nvPr/>
        </p:nvSpPr>
        <p:spPr>
          <a:xfrm>
            <a:off x="2565400" y="5130800"/>
            <a:ext cx="1600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EEFAFF"/>
                </a:solidFill>
                <a:latin typeface="Montserrat" panose="00000500000000000000" pitchFamily="2" charset="-52"/>
              </a:rPr>
              <a:t>NOT</a:t>
            </a:r>
            <a:endParaRPr lang="ru-RU" sz="140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774E2B-5634-98EA-5DA7-1EA0561F7D8F}"/>
              </a:ext>
            </a:extLst>
          </p:cNvPr>
          <p:cNvSpPr txBox="1"/>
          <p:nvPr/>
        </p:nvSpPr>
        <p:spPr>
          <a:xfrm>
            <a:off x="2362200" y="5410200"/>
            <a:ext cx="1981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>
                <a:solidFill>
                  <a:srgbClr val="89A4B9"/>
                </a:solidFill>
                <a:latin typeface="Montserrat" panose="00000500000000000000" pitchFamily="2" charset="-52"/>
              </a:rPr>
              <a:t>инверсия входного сигнала</a:t>
            </a: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28C12B75-5FC6-EC59-4894-DE75E58F7AE5}"/>
              </a:ext>
            </a:extLst>
          </p:cNvPr>
          <p:cNvSpPr/>
          <p:nvPr/>
        </p:nvSpPr>
        <p:spPr>
          <a:xfrm>
            <a:off x="5105400" y="4267200"/>
            <a:ext cx="685800" cy="685800"/>
          </a:xfrm>
          <a:prstGeom prst="ellipse">
            <a:avLst/>
          </a:prstGeom>
          <a:solidFill>
            <a:srgbClr val="2C86FF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4D2170-F968-0561-E4B5-A54E7BD5401E}"/>
              </a:ext>
            </a:extLst>
          </p:cNvPr>
          <p:cNvSpPr txBox="1"/>
          <p:nvPr/>
        </p:nvSpPr>
        <p:spPr>
          <a:xfrm>
            <a:off x="5257800" y="4445000"/>
            <a:ext cx="38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>
                <a:solidFill>
                  <a:srgbClr val="070C16"/>
                </a:solidFill>
                <a:latin typeface="Montserrat" panose="00000500000000000000" pitchFamily="2" charset="-52"/>
              </a:rPr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C4F545-143D-40D9-A527-572B5189DEB0}"/>
              </a:ext>
            </a:extLst>
          </p:cNvPr>
          <p:cNvSpPr txBox="1"/>
          <p:nvPr/>
        </p:nvSpPr>
        <p:spPr>
          <a:xfrm>
            <a:off x="4648200" y="5130800"/>
            <a:ext cx="1600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EEFAFF"/>
                </a:solidFill>
                <a:latin typeface="Montserrat" panose="00000500000000000000" pitchFamily="2" charset="-52"/>
              </a:rPr>
              <a:t>AND</a:t>
            </a:r>
            <a:endParaRPr lang="ru-RU" sz="140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FB91E3-0CC7-6C1F-5C60-0CF12CB57415}"/>
              </a:ext>
            </a:extLst>
          </p:cNvPr>
          <p:cNvSpPr txBox="1"/>
          <p:nvPr/>
        </p:nvSpPr>
        <p:spPr>
          <a:xfrm>
            <a:off x="4445000" y="5410200"/>
            <a:ext cx="1981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>
                <a:solidFill>
                  <a:srgbClr val="89A4B9"/>
                </a:solidFill>
                <a:latin typeface="Montserrat" panose="00000500000000000000" pitchFamily="2" charset="-52"/>
              </a:rPr>
              <a:t>Y=1 только при A=1 и B=1</a:t>
            </a: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A7F006AB-28CF-CB0F-10D6-CC5E98A72E3A}"/>
              </a:ext>
            </a:extLst>
          </p:cNvPr>
          <p:cNvSpPr/>
          <p:nvPr/>
        </p:nvSpPr>
        <p:spPr>
          <a:xfrm>
            <a:off x="7188200" y="4267200"/>
            <a:ext cx="685800" cy="685800"/>
          </a:xfrm>
          <a:prstGeom prst="ellipse">
            <a:avLst/>
          </a:prstGeom>
          <a:solidFill>
            <a:srgbClr val="FFC757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2756D4-469C-0885-FF11-9D4602D39FB6}"/>
              </a:ext>
            </a:extLst>
          </p:cNvPr>
          <p:cNvSpPr txBox="1"/>
          <p:nvPr/>
        </p:nvSpPr>
        <p:spPr>
          <a:xfrm>
            <a:off x="7340600" y="4445000"/>
            <a:ext cx="38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>
                <a:solidFill>
                  <a:srgbClr val="070C16"/>
                </a:solidFill>
                <a:latin typeface="Montserrat" panose="00000500000000000000" pitchFamily="2" charset="-52"/>
              </a:rPr>
              <a:t>04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790D5C-73A6-CEC8-A3A9-4966FF6DFE53}"/>
              </a:ext>
            </a:extLst>
          </p:cNvPr>
          <p:cNvSpPr txBox="1"/>
          <p:nvPr/>
        </p:nvSpPr>
        <p:spPr>
          <a:xfrm>
            <a:off x="6731000" y="5130800"/>
            <a:ext cx="1600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EEFAFF"/>
                </a:solidFill>
                <a:latin typeface="Montserrat" panose="00000500000000000000" pitchFamily="2" charset="-52"/>
              </a:rPr>
              <a:t>OR</a:t>
            </a:r>
            <a:endParaRPr lang="ru-RU" sz="140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40F841-726D-58B4-04C1-9DEE1A513BE8}"/>
              </a:ext>
            </a:extLst>
          </p:cNvPr>
          <p:cNvSpPr txBox="1"/>
          <p:nvPr/>
        </p:nvSpPr>
        <p:spPr>
          <a:xfrm>
            <a:off x="6527800" y="5410200"/>
            <a:ext cx="1981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>
                <a:solidFill>
                  <a:srgbClr val="89A4B9"/>
                </a:solidFill>
                <a:latin typeface="Montserrat" panose="00000500000000000000" pitchFamily="2" charset="-52"/>
              </a:rPr>
              <a:t>достаточно одного активного входа</a:t>
            </a:r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2F7D555C-A835-AB5E-8F5F-ECE1DC7E42F4}"/>
              </a:ext>
            </a:extLst>
          </p:cNvPr>
          <p:cNvSpPr/>
          <p:nvPr/>
        </p:nvSpPr>
        <p:spPr>
          <a:xfrm>
            <a:off x="9271000" y="4267200"/>
            <a:ext cx="685800" cy="685800"/>
          </a:xfrm>
          <a:prstGeom prst="ellipse">
            <a:avLst/>
          </a:prstGeom>
          <a:solidFill>
            <a:srgbClr val="3AFFB1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9EDDAC-C549-805E-39A8-E8D42C5B93CF}"/>
              </a:ext>
            </a:extLst>
          </p:cNvPr>
          <p:cNvSpPr txBox="1"/>
          <p:nvPr/>
        </p:nvSpPr>
        <p:spPr>
          <a:xfrm>
            <a:off x="9423400" y="4445000"/>
            <a:ext cx="38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>
                <a:solidFill>
                  <a:srgbClr val="070C16"/>
                </a:solidFill>
                <a:latin typeface="Montserrat" panose="00000500000000000000" pitchFamily="2" charset="-52"/>
              </a:rPr>
              <a:t>05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E311C9-E9EB-B65D-9714-3288B48F389E}"/>
              </a:ext>
            </a:extLst>
          </p:cNvPr>
          <p:cNvSpPr txBox="1"/>
          <p:nvPr/>
        </p:nvSpPr>
        <p:spPr>
          <a:xfrm>
            <a:off x="8813800" y="5130800"/>
            <a:ext cx="1600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400" b="1">
                <a:solidFill>
                  <a:srgbClr val="EEFAFF"/>
                </a:solidFill>
                <a:latin typeface="Montserrat" panose="00000500000000000000" pitchFamily="2" charset="-52"/>
              </a:rPr>
              <a:t>Проверка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B78765-C3A9-1143-26F2-B140709895D9}"/>
              </a:ext>
            </a:extLst>
          </p:cNvPr>
          <p:cNvSpPr txBox="1"/>
          <p:nvPr/>
        </p:nvSpPr>
        <p:spPr>
          <a:xfrm>
            <a:off x="8610600" y="5410200"/>
            <a:ext cx="1981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>
                <a:solidFill>
                  <a:srgbClr val="89A4B9"/>
                </a:solidFill>
                <a:latin typeface="Montserrat" panose="00000500000000000000" pitchFamily="2" charset="-52"/>
              </a:rPr>
              <a:t>студент прогнозирует </a:t>
            </a:r>
            <a:r>
              <a:rPr lang="en-US" sz="1050">
                <a:solidFill>
                  <a:srgbClr val="89A4B9"/>
                </a:solidFill>
                <a:latin typeface="Montserrat" panose="00000500000000000000" pitchFamily="2" charset="-52"/>
              </a:rPr>
              <a:t>Y</a:t>
            </a:r>
            <a:endParaRPr lang="ru-RU" sz="1050">
              <a:solidFill>
                <a:srgbClr val="89A4B9"/>
              </a:solidFill>
              <a:latin typeface="Montserrat" panose="00000500000000000000" pitchFamily="2" charset="-52"/>
            </a:endParaRPr>
          </a:p>
        </p:txBody>
      </p: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B804D1C2-B296-BDD1-3C95-AD36D939C48F}"/>
              </a:ext>
            </a:extLst>
          </p:cNvPr>
          <p:cNvCxnSpPr/>
          <p:nvPr/>
        </p:nvCxnSpPr>
        <p:spPr>
          <a:xfrm>
            <a:off x="1625600" y="4610100"/>
            <a:ext cx="8331200" cy="0"/>
          </a:xfrm>
          <a:prstGeom prst="line">
            <a:avLst/>
          </a:prstGeom>
          <a:ln w="27940" cap="flat" cmpd="sng" algn="ctr">
            <a:solidFill>
              <a:srgbClr val="315670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163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EF270DA-1504-6794-F67C-31AC406C4A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C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1F9C2A42-EF22-FCB9-23FB-22D3253CDD0A}"/>
              </a:ext>
            </a:extLst>
          </p:cNvPr>
          <p:cNvSpPr/>
          <p:nvPr/>
        </p:nvSpPr>
        <p:spPr>
          <a:xfrm>
            <a:off x="-1714500" y="-1524000"/>
            <a:ext cx="4318000" cy="4318000"/>
          </a:xfrm>
          <a:prstGeom prst="ellipse">
            <a:avLst/>
          </a:prstGeom>
          <a:solidFill>
            <a:srgbClr val="2C86FF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5D96B834-795B-2225-3469-0D9AB8D36C28}"/>
              </a:ext>
            </a:extLst>
          </p:cNvPr>
          <p:cNvSpPr/>
          <p:nvPr/>
        </p:nvSpPr>
        <p:spPr>
          <a:xfrm>
            <a:off x="9652000" y="4254500"/>
            <a:ext cx="3556000" cy="3556000"/>
          </a:xfrm>
          <a:prstGeom prst="ellipse">
            <a:avLst/>
          </a:prstGeom>
          <a:solidFill>
            <a:srgbClr val="3AFFB1">
              <a:alpha val="1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663A0ED-966F-F901-FB69-747D4DB02550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05CE50D-A30E-C376-B086-1A08B3ADC6B7}"/>
              </a:ext>
            </a:extLst>
          </p:cNvPr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A8BA6BC-DA94-8D02-98D3-7B7C69B959EE}"/>
              </a:ext>
            </a:extLst>
          </p:cNvPr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C572273-0C36-DBFF-3339-17430CD23D31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3D18591-4F4D-727E-818E-9B15A64321BC}"/>
              </a:ext>
            </a:extLst>
          </p:cNvPr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0F447CB-59A1-7EDF-3964-EB73F2C6F412}"/>
              </a:ext>
            </a:extLst>
          </p:cNvPr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57EC8B0-09F0-5A5E-6A42-2CCC347820AE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319728F-B844-1610-BFAF-3F0B080D8954}"/>
              </a:ext>
            </a:extLst>
          </p:cNvPr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9634A668-C1B3-8C55-3FBB-A75D38387344}"/>
              </a:ext>
            </a:extLst>
          </p:cNvPr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CA302256-BCBA-A220-18BB-5D97E6481F69}"/>
              </a:ext>
            </a:extLst>
          </p:cNvPr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A72B90-3E75-6E1B-95B2-90C1EDD7EFE8}"/>
              </a:ext>
            </a:extLst>
          </p:cNvPr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B08FF950-77BA-CB35-ED36-6F8CA2B8830D}"/>
              </a:ext>
            </a:extLst>
          </p:cNvPr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EF71BB1E-BC67-1A72-459E-5C7084FA7458}"/>
              </a:ext>
            </a:extLst>
          </p:cNvPr>
          <p:cNvCxnSpPr/>
          <p:nvPr/>
        </p:nvCxnSpPr>
        <p:spPr>
          <a:xfrm>
            <a:off x="0" y="25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51FA0243-E637-6E7A-3F4E-1198297EBD6C}"/>
              </a:ext>
            </a:extLst>
          </p:cNvPr>
          <p:cNvCxnSpPr/>
          <p:nvPr/>
        </p:nvCxnSpPr>
        <p:spPr>
          <a:xfrm>
            <a:off x="0" y="127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52B292CA-4E23-6804-C970-BE88BABC820B}"/>
              </a:ext>
            </a:extLst>
          </p:cNvPr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EEA63E37-641C-1C78-BDEC-FD1AFB247986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C514FE39-E73E-9C26-1174-C990D049C2F8}"/>
              </a:ext>
            </a:extLst>
          </p:cNvPr>
          <p:cNvCxnSpPr/>
          <p:nvPr/>
        </p:nvCxnSpPr>
        <p:spPr>
          <a:xfrm>
            <a:off x="0" y="4318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28DB2D6F-74A7-F3FC-EBF1-302A9BCC2218}"/>
              </a:ext>
            </a:extLst>
          </p:cNvPr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9CB102BE-5926-AD59-F1C8-9742F60B3CAF}"/>
              </a:ext>
            </a:extLst>
          </p:cNvPr>
          <p:cNvCxnSpPr/>
          <p:nvPr/>
        </p:nvCxnSpPr>
        <p:spPr>
          <a:xfrm>
            <a:off x="0" y="635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399FD3A-AE57-B42F-F5BE-D87C95C16AB6}"/>
              </a:ext>
            </a:extLst>
          </p:cNvPr>
          <p:cNvSpPr txBox="1"/>
          <p:nvPr/>
        </p:nvSpPr>
        <p:spPr>
          <a:xfrm>
            <a:off x="533400" y="3048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>
                <a:solidFill>
                  <a:srgbClr val="00E2FF"/>
                </a:solidFill>
                <a:latin typeface="Montserrat" panose="00000500000000000000" pitchFamily="2" charset="-52"/>
              </a:rPr>
              <a:t>07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509B59-6F1D-328C-BEBB-3C2B1329B97D}"/>
              </a:ext>
            </a:extLst>
          </p:cNvPr>
          <p:cNvSpPr txBox="1"/>
          <p:nvPr/>
        </p:nvSpPr>
        <p:spPr>
          <a:xfrm>
            <a:off x="1270000" y="2921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89A4B9"/>
                </a:solidFill>
                <a:latin typeface="Montserrat" panose="00000500000000000000" pitchFamily="2" charset="-52"/>
              </a:rPr>
              <a:t>Дипломный проект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C03AFACD-B8B7-73E0-7613-DCEB61BAEA47}"/>
              </a:ext>
            </a:extLst>
          </p:cNvPr>
          <p:cNvCxnSpPr/>
          <p:nvPr/>
        </p:nvCxnSpPr>
        <p:spPr>
          <a:xfrm>
            <a:off x="533400" y="6388100"/>
            <a:ext cx="11125200" cy="0"/>
          </a:xfrm>
          <a:prstGeom prst="line">
            <a:avLst/>
          </a:prstGeom>
          <a:ln w="13970" cap="flat" cmpd="sng" algn="ctr">
            <a:solidFill>
              <a:srgbClr val="315670">
                <a:alpha val="5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9B47A0D-F1C0-7CF5-8B43-5B9293EF8DA7}"/>
              </a:ext>
            </a:extLst>
          </p:cNvPr>
          <p:cNvSpPr txBox="1"/>
          <p:nvPr/>
        </p:nvSpPr>
        <p:spPr>
          <a:xfrm>
            <a:off x="533400" y="736600"/>
            <a:ext cx="876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EEFAFF"/>
                </a:solidFill>
                <a:latin typeface="Montserrat" panose="00000500000000000000" pitchFamily="2" charset="-52"/>
              </a:rPr>
              <a:t>Интерактивный режим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41A0683-75A7-9CA5-12A2-3DA40B552596}"/>
              </a:ext>
            </a:extLst>
          </p:cNvPr>
          <p:cNvSpPr/>
          <p:nvPr/>
        </p:nvSpPr>
        <p:spPr>
          <a:xfrm>
            <a:off x="533400" y="1524000"/>
            <a:ext cx="13208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0C8091-8690-8359-8BF2-4DEBDF974E61}"/>
              </a:ext>
            </a:extLst>
          </p:cNvPr>
          <p:cNvSpPr txBox="1"/>
          <p:nvPr/>
        </p:nvSpPr>
        <p:spPr>
          <a:xfrm>
            <a:off x="533400" y="16764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89A4B9"/>
                </a:solidFill>
                <a:latin typeface="Montserrat" panose="00000500000000000000" pitchFamily="2" charset="-52"/>
              </a:rPr>
              <a:t>Пользователь сам меняет функцию и входные сигналы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F2E5FD42-C236-00DB-1CB0-549C323705E8}"/>
              </a:ext>
            </a:extLst>
          </p:cNvPr>
          <p:cNvSpPr/>
          <p:nvPr/>
        </p:nvSpPr>
        <p:spPr>
          <a:xfrm>
            <a:off x="889000" y="1757363"/>
            <a:ext cx="6553200" cy="3775075"/>
          </a:xfrm>
          <a:prstGeom prst="roundRect">
            <a:avLst/>
          </a:prstGeom>
          <a:solidFill>
            <a:srgbClr val="0E1827">
              <a:alpha val="78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B152CD69-8AEE-152D-C7BA-33CACB108C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858963"/>
            <a:ext cx="6350000" cy="3571875"/>
          </a:xfrm>
          <a:prstGeom prst="rect">
            <a:avLst/>
          </a:prstGeom>
        </p:spPr>
      </p:pic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81020773-8B94-5345-0371-37415990CA79}"/>
              </a:ext>
            </a:extLst>
          </p:cNvPr>
          <p:cNvSpPr/>
          <p:nvPr/>
        </p:nvSpPr>
        <p:spPr>
          <a:xfrm>
            <a:off x="7950200" y="1854200"/>
            <a:ext cx="3175000" cy="9144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317DE76-6452-F2FA-B480-7BFDEBA93966}"/>
              </a:ext>
            </a:extLst>
          </p:cNvPr>
          <p:cNvSpPr/>
          <p:nvPr/>
        </p:nvSpPr>
        <p:spPr>
          <a:xfrm>
            <a:off x="8153400" y="2057400"/>
            <a:ext cx="5334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4C171-7542-CDD5-14EC-81DAC45FBFE0}"/>
              </a:ext>
            </a:extLst>
          </p:cNvPr>
          <p:cNvSpPr txBox="1"/>
          <p:nvPr/>
        </p:nvSpPr>
        <p:spPr>
          <a:xfrm>
            <a:off x="8153400" y="2222500"/>
            <a:ext cx="2768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Ручной выбор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ECB14A-199A-3BF4-4833-6D4C7FECD8BD}"/>
              </a:ext>
            </a:extLst>
          </p:cNvPr>
          <p:cNvSpPr txBox="1"/>
          <p:nvPr/>
        </p:nvSpPr>
        <p:spPr>
          <a:xfrm>
            <a:off x="8153400" y="2514600"/>
            <a:ext cx="2768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89A4B9"/>
                </a:solidFill>
                <a:latin typeface="Montserrat" panose="00000500000000000000" pitchFamily="2" charset="-52"/>
              </a:rPr>
              <a:t>NOT, AND </a:t>
            </a:r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или </a:t>
            </a:r>
            <a:r>
              <a:rPr lang="en-US" sz="1150">
                <a:solidFill>
                  <a:srgbClr val="89A4B9"/>
                </a:solidFill>
                <a:latin typeface="Montserrat" panose="00000500000000000000" pitchFamily="2" charset="-52"/>
              </a:rPr>
              <a:t>OR</a:t>
            </a:r>
            <a:endParaRPr lang="ru-RU" sz="1150">
              <a:solidFill>
                <a:srgbClr val="89A4B9"/>
              </a:solidFill>
              <a:latin typeface="Montserrat" panose="00000500000000000000" pitchFamily="2" charset="-52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12919106-30EE-1473-8F54-23BDD6B0BFAC}"/>
              </a:ext>
            </a:extLst>
          </p:cNvPr>
          <p:cNvSpPr/>
          <p:nvPr/>
        </p:nvSpPr>
        <p:spPr>
          <a:xfrm>
            <a:off x="7950200" y="2997200"/>
            <a:ext cx="3175000" cy="9144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C69D2B1-22CC-9B24-98F8-6EA02FC904AB}"/>
              </a:ext>
            </a:extLst>
          </p:cNvPr>
          <p:cNvSpPr/>
          <p:nvPr/>
        </p:nvSpPr>
        <p:spPr>
          <a:xfrm>
            <a:off x="8153400" y="3200400"/>
            <a:ext cx="533400" cy="50800"/>
          </a:xfrm>
          <a:prstGeom prst="rect">
            <a:avLst/>
          </a:prstGeom>
          <a:solidFill>
            <a:srgbClr val="3AFFB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3DABD2-B0B6-0BDB-E0D2-6AE6007AE8D4}"/>
              </a:ext>
            </a:extLst>
          </p:cNvPr>
          <p:cNvSpPr txBox="1"/>
          <p:nvPr/>
        </p:nvSpPr>
        <p:spPr>
          <a:xfrm>
            <a:off x="8153400" y="3365500"/>
            <a:ext cx="2768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Входы </a:t>
            </a:r>
            <a:r>
              <a:rPr lang="en-US" sz="1500" b="1">
                <a:solidFill>
                  <a:srgbClr val="EEFAFF"/>
                </a:solidFill>
                <a:latin typeface="Montserrat" panose="00000500000000000000" pitchFamily="2" charset="-52"/>
              </a:rPr>
              <a:t>A </a:t>
            </a:r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и </a:t>
            </a:r>
            <a:r>
              <a:rPr lang="en-US" sz="1500" b="1">
                <a:solidFill>
                  <a:srgbClr val="EEFAFF"/>
                </a:solidFill>
                <a:latin typeface="Montserrat" panose="00000500000000000000" pitchFamily="2" charset="-52"/>
              </a:rPr>
              <a:t>B</a:t>
            </a:r>
            <a:endParaRPr lang="ru-RU" sz="150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423A3C-D6F0-7F0E-50AB-0979FF6951FF}"/>
              </a:ext>
            </a:extLst>
          </p:cNvPr>
          <p:cNvSpPr txBox="1"/>
          <p:nvPr/>
        </p:nvSpPr>
        <p:spPr>
          <a:xfrm>
            <a:off x="8153400" y="3657600"/>
            <a:ext cx="2768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переключаются без перезапуска сцены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E18F229D-8D7A-F7E9-A484-E361325FA7B8}"/>
              </a:ext>
            </a:extLst>
          </p:cNvPr>
          <p:cNvSpPr/>
          <p:nvPr/>
        </p:nvSpPr>
        <p:spPr>
          <a:xfrm>
            <a:off x="7950200" y="4140200"/>
            <a:ext cx="3175000" cy="9144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FFC757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31DEDEED-C894-9829-395B-5E00EA5F14C8}"/>
              </a:ext>
            </a:extLst>
          </p:cNvPr>
          <p:cNvSpPr/>
          <p:nvPr/>
        </p:nvSpPr>
        <p:spPr>
          <a:xfrm>
            <a:off x="8153400" y="4343400"/>
            <a:ext cx="533400" cy="50800"/>
          </a:xfrm>
          <a:prstGeom prst="rect">
            <a:avLst/>
          </a:prstGeom>
          <a:solidFill>
            <a:srgbClr val="FFC7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EBADEB-864C-679A-39E5-9CF695795CD6}"/>
              </a:ext>
            </a:extLst>
          </p:cNvPr>
          <p:cNvSpPr txBox="1"/>
          <p:nvPr/>
        </p:nvSpPr>
        <p:spPr>
          <a:xfrm>
            <a:off x="8153400" y="4508500"/>
            <a:ext cx="2768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Обратная связь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598328-0C02-61C2-A8C2-9408E8408599}"/>
              </a:ext>
            </a:extLst>
          </p:cNvPr>
          <p:cNvSpPr txBox="1"/>
          <p:nvPr/>
        </p:nvSpPr>
        <p:spPr>
          <a:xfrm>
            <a:off x="8153400" y="4800600"/>
            <a:ext cx="2768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Y, LED и строка таблицы меняются сразу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A659E2-04C0-B24A-B63E-7B6FBF06691E}"/>
              </a:ext>
            </a:extLst>
          </p:cNvPr>
          <p:cNvSpPr txBox="1"/>
          <p:nvPr/>
        </p:nvSpPr>
        <p:spPr>
          <a:xfrm>
            <a:off x="1320800" y="5842000"/>
            <a:ext cx="9652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400">
                <a:solidFill>
                  <a:srgbClr val="89A4B9"/>
                </a:solidFill>
                <a:latin typeface="Montserrat" panose="00000500000000000000" pitchFamily="2" charset="-52"/>
              </a:rPr>
              <a:t>Интерактив делает демонстрацию не пассивной: студент проверяет правило функции на конкретной комбинации входов.</a:t>
            </a:r>
          </a:p>
        </p:txBody>
      </p:sp>
    </p:spTree>
    <p:extLst>
      <p:ext uri="{BB962C8B-B14F-4D97-AF65-F5344CB8AC3E}">
        <p14:creationId xmlns:p14="http://schemas.microsoft.com/office/powerpoint/2010/main" val="2728843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8C096A7-1329-BED4-DBD9-EC4E2E30EA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C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FBD94E27-08B3-A2E9-EDCB-27C6DAEB8DE6}"/>
              </a:ext>
            </a:extLst>
          </p:cNvPr>
          <p:cNvSpPr/>
          <p:nvPr/>
        </p:nvSpPr>
        <p:spPr>
          <a:xfrm>
            <a:off x="-1714500" y="-1524000"/>
            <a:ext cx="4318000" cy="4318000"/>
          </a:xfrm>
          <a:prstGeom prst="ellipse">
            <a:avLst/>
          </a:prstGeom>
          <a:solidFill>
            <a:srgbClr val="2C86FF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F541CF65-DBDC-64FC-86C4-8E8F8AD1D372}"/>
              </a:ext>
            </a:extLst>
          </p:cNvPr>
          <p:cNvSpPr/>
          <p:nvPr/>
        </p:nvSpPr>
        <p:spPr>
          <a:xfrm>
            <a:off x="9652000" y="4254500"/>
            <a:ext cx="3556000" cy="3556000"/>
          </a:xfrm>
          <a:prstGeom prst="ellipse">
            <a:avLst/>
          </a:prstGeom>
          <a:solidFill>
            <a:srgbClr val="3AFFB1">
              <a:alpha val="1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F90189D3-DBB9-91C1-2C52-B806EC9FE079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013EA91-59EA-138D-F82B-9F906291F97D}"/>
              </a:ext>
            </a:extLst>
          </p:cNvPr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8F1A09F-264E-0386-18FF-3F8D656D7F58}"/>
              </a:ext>
            </a:extLst>
          </p:cNvPr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7583C84-2C30-8F2C-7139-50C441889E72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D9FA2D0-9D03-CF5D-3F0C-70DD29DD584E}"/>
              </a:ext>
            </a:extLst>
          </p:cNvPr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FFBC12-FF18-5D02-B43D-C8DB3AC4FFEE}"/>
              </a:ext>
            </a:extLst>
          </p:cNvPr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73FF7BFA-A069-5C8F-16F3-ADA758AA8F11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972F28E-405D-A4FA-2D7A-8C584F0E0A23}"/>
              </a:ext>
            </a:extLst>
          </p:cNvPr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8DC7F08F-19AB-00E3-C6DC-38927762DB6F}"/>
              </a:ext>
            </a:extLst>
          </p:cNvPr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A0CAFAF-55B8-46BF-D6CC-66FDDF0FDDEA}"/>
              </a:ext>
            </a:extLst>
          </p:cNvPr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AFAF69C-5505-5A07-83DA-E46F0E5BDE08}"/>
              </a:ext>
            </a:extLst>
          </p:cNvPr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9E52726B-094B-1335-A7EA-607BF84EA966}"/>
              </a:ext>
            </a:extLst>
          </p:cNvPr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52862557-B032-F7FD-D697-C3EA56CA7315}"/>
              </a:ext>
            </a:extLst>
          </p:cNvPr>
          <p:cNvCxnSpPr/>
          <p:nvPr/>
        </p:nvCxnSpPr>
        <p:spPr>
          <a:xfrm>
            <a:off x="0" y="25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B067E367-83F9-A47C-0167-AF17B1A03DB9}"/>
              </a:ext>
            </a:extLst>
          </p:cNvPr>
          <p:cNvCxnSpPr/>
          <p:nvPr/>
        </p:nvCxnSpPr>
        <p:spPr>
          <a:xfrm>
            <a:off x="0" y="127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9E31BC5-CB5B-73D3-920C-2F8786020226}"/>
              </a:ext>
            </a:extLst>
          </p:cNvPr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4E66356-9BE4-037F-4FCC-7B0FDD46CB08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3E4B82BB-8B2F-F817-6842-513B64B0B1E9}"/>
              </a:ext>
            </a:extLst>
          </p:cNvPr>
          <p:cNvCxnSpPr/>
          <p:nvPr/>
        </p:nvCxnSpPr>
        <p:spPr>
          <a:xfrm>
            <a:off x="0" y="4318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2A01A05C-82CB-C75F-8665-4FCC35C293C5}"/>
              </a:ext>
            </a:extLst>
          </p:cNvPr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BEACA18-2B88-78F5-18E2-ECE4227F300D}"/>
              </a:ext>
            </a:extLst>
          </p:cNvPr>
          <p:cNvCxnSpPr/>
          <p:nvPr/>
        </p:nvCxnSpPr>
        <p:spPr>
          <a:xfrm>
            <a:off x="0" y="635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6F304D8-1F0D-C1DC-C3B0-298DD8676687}"/>
              </a:ext>
            </a:extLst>
          </p:cNvPr>
          <p:cNvSpPr txBox="1"/>
          <p:nvPr/>
        </p:nvSpPr>
        <p:spPr>
          <a:xfrm>
            <a:off x="533400" y="3048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>
                <a:solidFill>
                  <a:srgbClr val="00E2FF"/>
                </a:solidFill>
                <a:latin typeface="Montserrat" panose="00000500000000000000" pitchFamily="2" charset="-52"/>
              </a:rPr>
              <a:t>08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2BAA5E-0470-20B9-5986-DB6FC2A349E1}"/>
              </a:ext>
            </a:extLst>
          </p:cNvPr>
          <p:cNvSpPr txBox="1"/>
          <p:nvPr/>
        </p:nvSpPr>
        <p:spPr>
          <a:xfrm>
            <a:off x="1270000" y="2921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89A4B9"/>
                </a:solidFill>
                <a:latin typeface="Montserrat" panose="00000500000000000000" pitchFamily="2" charset="-52"/>
              </a:rPr>
              <a:t>Дипломный проект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D2EA27C-88DC-6A2C-EB1E-44DFD9D2565B}"/>
              </a:ext>
            </a:extLst>
          </p:cNvPr>
          <p:cNvCxnSpPr/>
          <p:nvPr/>
        </p:nvCxnSpPr>
        <p:spPr>
          <a:xfrm>
            <a:off x="533400" y="6388100"/>
            <a:ext cx="11125200" cy="0"/>
          </a:xfrm>
          <a:prstGeom prst="line">
            <a:avLst/>
          </a:prstGeom>
          <a:ln w="13970" cap="flat" cmpd="sng" algn="ctr">
            <a:solidFill>
              <a:srgbClr val="315670">
                <a:alpha val="5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7972500-F643-983D-7779-FC546F1D068A}"/>
              </a:ext>
            </a:extLst>
          </p:cNvPr>
          <p:cNvSpPr txBox="1"/>
          <p:nvPr/>
        </p:nvSpPr>
        <p:spPr>
          <a:xfrm>
            <a:off x="533400" y="736600"/>
            <a:ext cx="876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EEFAFF"/>
                </a:solidFill>
                <a:latin typeface="Montserrat" panose="00000500000000000000" pitchFamily="2" charset="-52"/>
              </a:rPr>
              <a:t>Реализация </a:t>
            </a:r>
            <a:r>
              <a:rPr lang="en-US" sz="2800" b="1">
                <a:solidFill>
                  <a:srgbClr val="EEFAFF"/>
                </a:solidFill>
                <a:latin typeface="Montserrat" panose="00000500000000000000" pitchFamily="2" charset="-52"/>
              </a:rPr>
              <a:t>NOT, AND, OR</a:t>
            </a:r>
            <a:endParaRPr lang="ru-RU" sz="280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A648D25-D1D6-04A7-D14E-7AE837D068C8}"/>
              </a:ext>
            </a:extLst>
          </p:cNvPr>
          <p:cNvSpPr/>
          <p:nvPr/>
        </p:nvSpPr>
        <p:spPr>
          <a:xfrm>
            <a:off x="533400" y="1524000"/>
            <a:ext cx="13208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D28313-9063-6981-BF37-FDA4936D31B7}"/>
              </a:ext>
            </a:extLst>
          </p:cNvPr>
          <p:cNvSpPr txBox="1"/>
          <p:nvPr/>
        </p:nvSpPr>
        <p:spPr>
          <a:xfrm>
            <a:off x="533400" y="16764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89A4B9"/>
                </a:solidFill>
                <a:latin typeface="Montserrat" panose="00000500000000000000" pitchFamily="2" charset="-52"/>
              </a:rPr>
              <a:t>Логика находится в блоке микросхемы, входы подаются на отдельные пины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B036124F-F992-2C91-AE66-90F07F8CB51B}"/>
              </a:ext>
            </a:extLst>
          </p:cNvPr>
          <p:cNvSpPr/>
          <p:nvPr/>
        </p:nvSpPr>
        <p:spPr>
          <a:xfrm>
            <a:off x="1219200" y="2082800"/>
            <a:ext cx="2489200" cy="2616200"/>
          </a:xfrm>
          <a:prstGeom prst="roundRect">
            <a:avLst/>
          </a:prstGeom>
          <a:solidFill>
            <a:srgbClr val="0E1827">
              <a:alpha val="86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5E1E07-7001-B310-4E3D-6EC3F7A10328}"/>
              </a:ext>
            </a:extLst>
          </p:cNvPr>
          <p:cNvSpPr txBox="1"/>
          <p:nvPr/>
        </p:nvSpPr>
        <p:spPr>
          <a:xfrm>
            <a:off x="1524000" y="2387600"/>
            <a:ext cx="18796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700" b="1">
                <a:solidFill>
                  <a:srgbClr val="3AFFB1"/>
                </a:solidFill>
                <a:latin typeface="Montserrat" panose="00000500000000000000" pitchFamily="2" charset="-52"/>
              </a:rPr>
              <a:t>NOT</a:t>
            </a:r>
            <a:endParaRPr lang="ru-RU" sz="2700" b="1">
              <a:solidFill>
                <a:srgbClr val="3AFFB1"/>
              </a:solidFill>
              <a:latin typeface="Montserrat" panose="00000500000000000000" pitchFamily="2" charset="-5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2F75F3-453F-D146-D1FB-DADA4D001805}"/>
              </a:ext>
            </a:extLst>
          </p:cNvPr>
          <p:cNvSpPr txBox="1"/>
          <p:nvPr/>
        </p:nvSpPr>
        <p:spPr>
          <a:xfrm>
            <a:off x="1498600" y="3022600"/>
            <a:ext cx="193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EEFAFF"/>
                </a:solidFill>
                <a:latin typeface="Consolas" panose="020B0609020204030204" pitchFamily="49" charset="0"/>
              </a:rPr>
              <a:t>Y = NOT A</a:t>
            </a:r>
            <a:endParaRPr lang="ru-RU" sz="1500" b="1">
              <a:solidFill>
                <a:srgbClr val="EEFAFF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2D2062-FACE-7DF5-7BA7-91801601AC06}"/>
              </a:ext>
            </a:extLst>
          </p:cNvPr>
          <p:cNvSpPr txBox="1"/>
          <p:nvPr/>
        </p:nvSpPr>
        <p:spPr>
          <a:xfrm>
            <a:off x="1498600" y="36576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200">
                <a:solidFill>
                  <a:srgbClr val="89A4B9"/>
                </a:solidFill>
                <a:latin typeface="Montserrat" panose="00000500000000000000" pitchFamily="2" charset="-52"/>
              </a:rPr>
              <a:t>Y меняет A на противоположное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F43ACF65-3BA1-B6C4-AE74-333739A39BCE}"/>
              </a:ext>
            </a:extLst>
          </p:cNvPr>
          <p:cNvSpPr/>
          <p:nvPr/>
        </p:nvSpPr>
        <p:spPr>
          <a:xfrm>
            <a:off x="1803400" y="4191000"/>
            <a:ext cx="1320800" cy="355600"/>
          </a:xfrm>
          <a:prstGeom prst="roundRect">
            <a:avLst/>
          </a:prstGeom>
          <a:solidFill>
            <a:srgbClr val="122237">
              <a:alpha val="95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2C2224-CBDD-37F0-FD6A-E39E24465F67}"/>
              </a:ext>
            </a:extLst>
          </p:cNvPr>
          <p:cNvSpPr txBox="1"/>
          <p:nvPr/>
        </p:nvSpPr>
        <p:spPr>
          <a:xfrm>
            <a:off x="1905000" y="4279900"/>
            <a:ext cx="1117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 b="1">
                <a:solidFill>
                  <a:srgbClr val="EEFAFF"/>
                </a:solidFill>
                <a:latin typeface="Montserrat" panose="00000500000000000000" pitchFamily="2" charset="-52"/>
              </a:rPr>
              <a:t>IC-7404</a:t>
            </a:r>
            <a:endParaRPr lang="ru-RU" sz="105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696E5995-40EC-3657-2A32-660C1187423D}"/>
              </a:ext>
            </a:extLst>
          </p:cNvPr>
          <p:cNvSpPr/>
          <p:nvPr/>
        </p:nvSpPr>
        <p:spPr>
          <a:xfrm>
            <a:off x="4851400" y="2082800"/>
            <a:ext cx="2489200" cy="2616200"/>
          </a:xfrm>
          <a:prstGeom prst="roundRect">
            <a:avLst/>
          </a:prstGeom>
          <a:solidFill>
            <a:srgbClr val="0E1827">
              <a:alpha val="86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50CFBC-EBF6-0AD6-6B4E-E35043EF7EFD}"/>
              </a:ext>
            </a:extLst>
          </p:cNvPr>
          <p:cNvSpPr txBox="1"/>
          <p:nvPr/>
        </p:nvSpPr>
        <p:spPr>
          <a:xfrm>
            <a:off x="5156200" y="2387600"/>
            <a:ext cx="18796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700" b="1">
                <a:solidFill>
                  <a:srgbClr val="00E2FF"/>
                </a:solidFill>
                <a:latin typeface="Montserrat" panose="00000500000000000000" pitchFamily="2" charset="-52"/>
              </a:rPr>
              <a:t>AND</a:t>
            </a:r>
            <a:endParaRPr lang="ru-RU" sz="2700" b="1">
              <a:solidFill>
                <a:srgbClr val="00E2FF"/>
              </a:solidFill>
              <a:latin typeface="Montserrat" panose="00000500000000000000" pitchFamily="2" charset="-52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40094C-0419-6907-303D-C5D888CF1CB2}"/>
              </a:ext>
            </a:extLst>
          </p:cNvPr>
          <p:cNvSpPr txBox="1"/>
          <p:nvPr/>
        </p:nvSpPr>
        <p:spPr>
          <a:xfrm>
            <a:off x="5130800" y="3022600"/>
            <a:ext cx="193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EEFAFF"/>
                </a:solidFill>
                <a:latin typeface="Consolas" panose="020B0609020204030204" pitchFamily="49" charset="0"/>
              </a:rPr>
              <a:t>Y = A AND B</a:t>
            </a:r>
            <a:endParaRPr lang="ru-RU" sz="1500" b="1">
              <a:solidFill>
                <a:srgbClr val="EEFAFF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1F2DFD-AF55-ED84-F239-1007C34712D8}"/>
              </a:ext>
            </a:extLst>
          </p:cNvPr>
          <p:cNvSpPr txBox="1"/>
          <p:nvPr/>
        </p:nvSpPr>
        <p:spPr>
          <a:xfrm>
            <a:off x="5130800" y="36576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200">
                <a:solidFill>
                  <a:srgbClr val="89A4B9"/>
                </a:solidFill>
                <a:latin typeface="Montserrat" panose="00000500000000000000" pitchFamily="2" charset="-52"/>
              </a:rPr>
              <a:t>Y=1 только если A=1 и B=1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85D4E9F4-42CB-5EDC-5CD0-B374D8426B2D}"/>
              </a:ext>
            </a:extLst>
          </p:cNvPr>
          <p:cNvSpPr/>
          <p:nvPr/>
        </p:nvSpPr>
        <p:spPr>
          <a:xfrm>
            <a:off x="5435600" y="4191000"/>
            <a:ext cx="1320800" cy="355600"/>
          </a:xfrm>
          <a:prstGeom prst="roundRect">
            <a:avLst/>
          </a:prstGeom>
          <a:solidFill>
            <a:srgbClr val="122237">
              <a:alpha val="95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62E84D-9396-CC85-30BD-1F8EC2773B66}"/>
              </a:ext>
            </a:extLst>
          </p:cNvPr>
          <p:cNvSpPr txBox="1"/>
          <p:nvPr/>
        </p:nvSpPr>
        <p:spPr>
          <a:xfrm>
            <a:off x="5537200" y="4279900"/>
            <a:ext cx="1117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 b="1">
                <a:solidFill>
                  <a:srgbClr val="EEFAFF"/>
                </a:solidFill>
                <a:latin typeface="Montserrat" panose="00000500000000000000" pitchFamily="2" charset="-52"/>
              </a:rPr>
              <a:t>IC-7408</a:t>
            </a:r>
            <a:endParaRPr lang="ru-RU" sz="105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3E8DD138-4822-E61D-88D5-0FAB822C2D91}"/>
              </a:ext>
            </a:extLst>
          </p:cNvPr>
          <p:cNvSpPr/>
          <p:nvPr/>
        </p:nvSpPr>
        <p:spPr>
          <a:xfrm>
            <a:off x="8483600" y="2082800"/>
            <a:ext cx="2489200" cy="2616200"/>
          </a:xfrm>
          <a:prstGeom prst="roundRect">
            <a:avLst/>
          </a:prstGeom>
          <a:solidFill>
            <a:srgbClr val="0E1827">
              <a:alpha val="86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7C409B-8C7C-A7FD-65AA-935CD8E0150A}"/>
              </a:ext>
            </a:extLst>
          </p:cNvPr>
          <p:cNvSpPr txBox="1"/>
          <p:nvPr/>
        </p:nvSpPr>
        <p:spPr>
          <a:xfrm>
            <a:off x="8788400" y="2387600"/>
            <a:ext cx="18796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700" b="1">
                <a:solidFill>
                  <a:srgbClr val="FFC757"/>
                </a:solidFill>
                <a:latin typeface="Montserrat" panose="00000500000000000000" pitchFamily="2" charset="-52"/>
              </a:rPr>
              <a:t>OR</a:t>
            </a:r>
            <a:endParaRPr lang="ru-RU" sz="2700" b="1">
              <a:solidFill>
                <a:srgbClr val="FFC757"/>
              </a:solidFill>
              <a:latin typeface="Montserrat" panose="00000500000000000000" pitchFamily="2" charset="-52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2BADEF-B31C-8BAA-D168-57A5CE9361DB}"/>
              </a:ext>
            </a:extLst>
          </p:cNvPr>
          <p:cNvSpPr txBox="1"/>
          <p:nvPr/>
        </p:nvSpPr>
        <p:spPr>
          <a:xfrm>
            <a:off x="8763000" y="3022600"/>
            <a:ext cx="193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EEFAFF"/>
                </a:solidFill>
                <a:latin typeface="Consolas" panose="020B0609020204030204" pitchFamily="49" charset="0"/>
              </a:rPr>
              <a:t>Y = A OR B</a:t>
            </a:r>
            <a:endParaRPr lang="ru-RU" sz="1500" b="1">
              <a:solidFill>
                <a:srgbClr val="EEFAFF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16BE04-A678-7D96-4B5F-B5C43BA35949}"/>
              </a:ext>
            </a:extLst>
          </p:cNvPr>
          <p:cNvSpPr txBox="1"/>
          <p:nvPr/>
        </p:nvSpPr>
        <p:spPr>
          <a:xfrm>
            <a:off x="8763000" y="36576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200">
                <a:solidFill>
                  <a:srgbClr val="89A4B9"/>
                </a:solidFill>
                <a:latin typeface="Montserrat" panose="00000500000000000000" pitchFamily="2" charset="-52"/>
              </a:rPr>
              <a:t>Y=1 если активен A или B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005C9AD-DEEA-CEC0-1393-255AAB2B1F1C}"/>
              </a:ext>
            </a:extLst>
          </p:cNvPr>
          <p:cNvSpPr/>
          <p:nvPr/>
        </p:nvSpPr>
        <p:spPr>
          <a:xfrm>
            <a:off x="9067800" y="4191000"/>
            <a:ext cx="1320800" cy="355600"/>
          </a:xfrm>
          <a:prstGeom prst="roundRect">
            <a:avLst/>
          </a:prstGeom>
          <a:solidFill>
            <a:srgbClr val="122237">
              <a:alpha val="95000"/>
            </a:srgbClr>
          </a:solidFill>
          <a:ln w="13970" cap="flat" cmpd="sng" algn="ctr">
            <a:solidFill>
              <a:srgbClr val="FFC757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6FBA45-A0A9-28E8-A4B6-FD5F4F5C5BBC}"/>
              </a:ext>
            </a:extLst>
          </p:cNvPr>
          <p:cNvSpPr txBox="1"/>
          <p:nvPr/>
        </p:nvSpPr>
        <p:spPr>
          <a:xfrm>
            <a:off x="9169400" y="4279900"/>
            <a:ext cx="1117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 b="1">
                <a:solidFill>
                  <a:srgbClr val="EEFAFF"/>
                </a:solidFill>
                <a:latin typeface="Montserrat" panose="00000500000000000000" pitchFamily="2" charset="-52"/>
              </a:rPr>
              <a:t>IC-7432</a:t>
            </a:r>
            <a:endParaRPr lang="ru-RU" sz="1050" b="1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191969-EE6B-9AA3-9C62-6BBD6D184867}"/>
              </a:ext>
            </a:extLst>
          </p:cNvPr>
          <p:cNvSpPr txBox="1"/>
          <p:nvPr/>
        </p:nvSpPr>
        <p:spPr>
          <a:xfrm>
            <a:off x="1320800" y="5334000"/>
            <a:ext cx="9550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700" b="1">
                <a:solidFill>
                  <a:srgbClr val="EEFAFF"/>
                </a:solidFill>
                <a:latin typeface="Montserrat" panose="00000500000000000000" pitchFamily="2" charset="-52"/>
              </a:rPr>
              <a:t>Ключевой акцент защиты: переключатели — это входные источники, а вычисление функции визуально помещено внутрь логического блока.</a:t>
            </a:r>
          </a:p>
        </p:txBody>
      </p:sp>
    </p:spTree>
    <p:extLst>
      <p:ext uri="{BB962C8B-B14F-4D97-AF65-F5344CB8AC3E}">
        <p14:creationId xmlns:p14="http://schemas.microsoft.com/office/powerpoint/2010/main" val="2548680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DEDDA9F-51D3-6FA6-AF5E-596E78B5B6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C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13431CEE-3944-3F27-AA7E-05A1BB1ECF58}"/>
              </a:ext>
            </a:extLst>
          </p:cNvPr>
          <p:cNvSpPr/>
          <p:nvPr/>
        </p:nvSpPr>
        <p:spPr>
          <a:xfrm>
            <a:off x="-1714500" y="-1524000"/>
            <a:ext cx="4318000" cy="4318000"/>
          </a:xfrm>
          <a:prstGeom prst="ellipse">
            <a:avLst/>
          </a:prstGeom>
          <a:solidFill>
            <a:srgbClr val="2C86FF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715D8F36-4551-C94B-4ACB-259D4DBF835F}"/>
              </a:ext>
            </a:extLst>
          </p:cNvPr>
          <p:cNvSpPr/>
          <p:nvPr/>
        </p:nvSpPr>
        <p:spPr>
          <a:xfrm>
            <a:off x="9652000" y="4254500"/>
            <a:ext cx="3556000" cy="3556000"/>
          </a:xfrm>
          <a:prstGeom prst="ellipse">
            <a:avLst/>
          </a:prstGeom>
          <a:solidFill>
            <a:srgbClr val="3AFFB1">
              <a:alpha val="1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19DAF53-9956-82C0-131D-8568C66383B5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FA88246-6432-7592-779C-0E02EAEE7871}"/>
              </a:ext>
            </a:extLst>
          </p:cNvPr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E9536D9C-C22F-E6FF-8695-D35E55582DC8}"/>
              </a:ext>
            </a:extLst>
          </p:cNvPr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06C41B1-558A-E4E6-C950-DED7D3CC5E94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85BA669-D517-626B-1691-243783A26B9D}"/>
              </a:ext>
            </a:extLst>
          </p:cNvPr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CCECA4E-57D8-BC2B-10E0-192E5700D586}"/>
              </a:ext>
            </a:extLst>
          </p:cNvPr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E94BE1D-77A4-A476-983C-38820D6E12E2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1F9A943-58F5-5735-54E1-C24BA458B2D8}"/>
              </a:ext>
            </a:extLst>
          </p:cNvPr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05A126F1-A259-8800-BEDA-BC82467EE7C7}"/>
              </a:ext>
            </a:extLst>
          </p:cNvPr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BBAB6E1B-C071-8079-FE77-30F3FF54E964}"/>
              </a:ext>
            </a:extLst>
          </p:cNvPr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73F8B7-A436-879D-6BA0-0677AFA99575}"/>
              </a:ext>
            </a:extLst>
          </p:cNvPr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B7F04783-4605-5B8D-CCA1-F9A217672BF8}"/>
              </a:ext>
            </a:extLst>
          </p:cNvPr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8BAEF6C7-723F-E61B-41BF-F2A5B768D83F}"/>
              </a:ext>
            </a:extLst>
          </p:cNvPr>
          <p:cNvCxnSpPr/>
          <p:nvPr/>
        </p:nvCxnSpPr>
        <p:spPr>
          <a:xfrm>
            <a:off x="0" y="25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091A9BF0-F829-B4A9-1D2E-EA36A8B9400B}"/>
              </a:ext>
            </a:extLst>
          </p:cNvPr>
          <p:cNvCxnSpPr/>
          <p:nvPr/>
        </p:nvCxnSpPr>
        <p:spPr>
          <a:xfrm>
            <a:off x="0" y="127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3A30FC89-77FD-4557-6196-7A35F4DA4A42}"/>
              </a:ext>
            </a:extLst>
          </p:cNvPr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0854A2CA-91D1-AE8A-3E8D-570606DF8D58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E9719FC0-FD4A-DB47-A3E2-A23FD8877356}"/>
              </a:ext>
            </a:extLst>
          </p:cNvPr>
          <p:cNvCxnSpPr/>
          <p:nvPr/>
        </p:nvCxnSpPr>
        <p:spPr>
          <a:xfrm>
            <a:off x="0" y="4318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13B13747-856A-B6CC-78BC-6451A416B705}"/>
              </a:ext>
            </a:extLst>
          </p:cNvPr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41F4DEF2-3FC7-D2F5-F71B-0E4067C38AB1}"/>
              </a:ext>
            </a:extLst>
          </p:cNvPr>
          <p:cNvCxnSpPr/>
          <p:nvPr/>
        </p:nvCxnSpPr>
        <p:spPr>
          <a:xfrm>
            <a:off x="0" y="635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7A5FCB2-C123-E04E-B12C-BEA49AC2EA92}"/>
              </a:ext>
            </a:extLst>
          </p:cNvPr>
          <p:cNvSpPr txBox="1"/>
          <p:nvPr/>
        </p:nvSpPr>
        <p:spPr>
          <a:xfrm>
            <a:off x="533400" y="3048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>
                <a:solidFill>
                  <a:srgbClr val="00E2FF"/>
                </a:solidFill>
                <a:latin typeface="Montserrat" panose="00000500000000000000" pitchFamily="2" charset="-52"/>
              </a:rPr>
              <a:t>09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D2AD6E-D07D-2529-D854-C454ECEB5F09}"/>
              </a:ext>
            </a:extLst>
          </p:cNvPr>
          <p:cNvSpPr txBox="1"/>
          <p:nvPr/>
        </p:nvSpPr>
        <p:spPr>
          <a:xfrm>
            <a:off x="1270000" y="2921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89A4B9"/>
                </a:solidFill>
                <a:latin typeface="Montserrat" panose="00000500000000000000" pitchFamily="2" charset="-52"/>
              </a:rPr>
              <a:t>Дипломный проект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CD9DE5FB-D47B-834C-E05C-170DCED065E1}"/>
              </a:ext>
            </a:extLst>
          </p:cNvPr>
          <p:cNvCxnSpPr/>
          <p:nvPr/>
        </p:nvCxnSpPr>
        <p:spPr>
          <a:xfrm>
            <a:off x="533400" y="6388100"/>
            <a:ext cx="11125200" cy="0"/>
          </a:xfrm>
          <a:prstGeom prst="line">
            <a:avLst/>
          </a:prstGeom>
          <a:ln w="13970" cap="flat" cmpd="sng" algn="ctr">
            <a:solidFill>
              <a:srgbClr val="315670">
                <a:alpha val="5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B1501A3-C13A-937A-9AD9-C49B593227E7}"/>
              </a:ext>
            </a:extLst>
          </p:cNvPr>
          <p:cNvSpPr txBox="1"/>
          <p:nvPr/>
        </p:nvSpPr>
        <p:spPr>
          <a:xfrm>
            <a:off x="533400" y="736600"/>
            <a:ext cx="876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EEFAFF"/>
                </a:solidFill>
                <a:latin typeface="Montserrat" panose="00000500000000000000" pitchFamily="2" charset="-52"/>
              </a:rPr>
              <a:t>Интерфейс и 3</a:t>
            </a:r>
            <a:r>
              <a:rPr lang="en-US" sz="2800" b="1">
                <a:solidFill>
                  <a:srgbClr val="EEFAFF"/>
                </a:solidFill>
                <a:latin typeface="Montserrat" panose="00000500000000000000" pitchFamily="2" charset="-52"/>
              </a:rPr>
              <a:t>D-</a:t>
            </a:r>
            <a:r>
              <a:rPr lang="ru-RU" sz="2800" b="1">
                <a:solidFill>
                  <a:srgbClr val="EEFAFF"/>
                </a:solidFill>
                <a:latin typeface="Montserrat" panose="00000500000000000000" pitchFamily="2" charset="-52"/>
              </a:rPr>
              <a:t>визуализация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682E254-3F28-33BA-A2A9-7527BB8B036F}"/>
              </a:ext>
            </a:extLst>
          </p:cNvPr>
          <p:cNvSpPr/>
          <p:nvPr/>
        </p:nvSpPr>
        <p:spPr>
          <a:xfrm>
            <a:off x="533400" y="1524000"/>
            <a:ext cx="13208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CF88B9-1838-4621-931B-D2A2109620BA}"/>
              </a:ext>
            </a:extLst>
          </p:cNvPr>
          <p:cNvSpPr txBox="1"/>
          <p:nvPr/>
        </p:nvSpPr>
        <p:spPr>
          <a:xfrm>
            <a:off x="533400" y="16764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89A4B9"/>
                </a:solidFill>
                <a:latin typeface="Montserrat" panose="00000500000000000000" pitchFamily="2" charset="-52"/>
              </a:rPr>
              <a:t>Визуальная часть показывает не только коробку, а полноценную учебную плату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78A8FFB2-3988-48C0-7D59-CDD3F6B74D48}"/>
              </a:ext>
            </a:extLst>
          </p:cNvPr>
          <p:cNvSpPr/>
          <p:nvPr/>
        </p:nvSpPr>
        <p:spPr>
          <a:xfrm>
            <a:off x="640644" y="1600200"/>
            <a:ext cx="6795911" cy="3911600"/>
          </a:xfrm>
          <a:prstGeom prst="roundRect">
            <a:avLst/>
          </a:prstGeom>
          <a:solidFill>
            <a:srgbClr val="0E1827">
              <a:alpha val="78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B0E33FA7-595E-D282-B7BC-656857D7200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44" y="1701800"/>
            <a:ext cx="6592711" cy="3708400"/>
          </a:xfrm>
          <a:prstGeom prst="rect">
            <a:avLst/>
          </a:prstGeom>
        </p:spPr>
      </p:pic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1B20D67A-BAEB-2D8D-BCF4-A328D3AEA003}"/>
              </a:ext>
            </a:extLst>
          </p:cNvPr>
          <p:cNvSpPr/>
          <p:nvPr/>
        </p:nvSpPr>
        <p:spPr>
          <a:xfrm>
            <a:off x="7950200" y="1625600"/>
            <a:ext cx="3124200" cy="8890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7F126DC-EA7F-4DB6-9EB2-25A533C4934E}"/>
              </a:ext>
            </a:extLst>
          </p:cNvPr>
          <p:cNvSpPr/>
          <p:nvPr/>
        </p:nvSpPr>
        <p:spPr>
          <a:xfrm>
            <a:off x="8153400" y="1828800"/>
            <a:ext cx="533400" cy="50800"/>
          </a:xfrm>
          <a:prstGeom prst="rect">
            <a:avLst/>
          </a:prstGeom>
          <a:solidFill>
            <a:srgbClr val="3AFFB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042FAD-11B7-8586-F40F-62FBCD28793E}"/>
              </a:ext>
            </a:extLst>
          </p:cNvPr>
          <p:cNvSpPr txBox="1"/>
          <p:nvPr/>
        </p:nvSpPr>
        <p:spPr>
          <a:xfrm>
            <a:off x="8153400" y="1993900"/>
            <a:ext cx="2717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EEFAFF"/>
                </a:solidFill>
                <a:latin typeface="Montserrat" panose="00000500000000000000" pitchFamily="2" charset="-52"/>
              </a:rPr>
              <a:t>PCB-</a:t>
            </a:r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детали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D4DB91-D99F-8D37-9ED5-75764B9F559E}"/>
              </a:ext>
            </a:extLst>
          </p:cNvPr>
          <p:cNvSpPr txBox="1"/>
          <p:nvPr/>
        </p:nvSpPr>
        <p:spPr>
          <a:xfrm>
            <a:off x="8153400" y="2286000"/>
            <a:ext cx="2717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плата, дорожки, пины, LED, подписи микросхем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61643BA6-5AB5-50C4-1AE8-7931DA4A1957}"/>
              </a:ext>
            </a:extLst>
          </p:cNvPr>
          <p:cNvSpPr/>
          <p:nvPr/>
        </p:nvSpPr>
        <p:spPr>
          <a:xfrm>
            <a:off x="7950200" y="2743200"/>
            <a:ext cx="3124200" cy="8890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9B681E9-A31B-4EDB-EED0-CB046EA225CE}"/>
              </a:ext>
            </a:extLst>
          </p:cNvPr>
          <p:cNvSpPr/>
          <p:nvPr/>
        </p:nvSpPr>
        <p:spPr>
          <a:xfrm>
            <a:off x="8153400" y="2946400"/>
            <a:ext cx="5334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1A7F0A-89D0-BFF8-ED64-85EE6DE6D98D}"/>
              </a:ext>
            </a:extLst>
          </p:cNvPr>
          <p:cNvSpPr txBox="1"/>
          <p:nvPr/>
        </p:nvSpPr>
        <p:spPr>
          <a:xfrm>
            <a:off x="8153400" y="3111500"/>
            <a:ext cx="2717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Свет сигнала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F7319-55BD-6A2E-E7DF-1FA634417510}"/>
              </a:ext>
            </a:extLst>
          </p:cNvPr>
          <p:cNvSpPr txBox="1"/>
          <p:nvPr/>
        </p:nvSpPr>
        <p:spPr>
          <a:xfrm>
            <a:off x="8153400" y="3403600"/>
            <a:ext cx="2717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активные проводники и частицы выделяются glow-эффектом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05CFA480-60B1-F26D-DE56-23C8CF2F253E}"/>
              </a:ext>
            </a:extLst>
          </p:cNvPr>
          <p:cNvSpPr/>
          <p:nvPr/>
        </p:nvSpPr>
        <p:spPr>
          <a:xfrm>
            <a:off x="7950200" y="3860800"/>
            <a:ext cx="3124200" cy="8890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2C86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7FF203CD-4774-659B-B1FA-0E0D00868CB2}"/>
              </a:ext>
            </a:extLst>
          </p:cNvPr>
          <p:cNvSpPr/>
          <p:nvPr/>
        </p:nvSpPr>
        <p:spPr>
          <a:xfrm>
            <a:off x="8153400" y="4064000"/>
            <a:ext cx="533400" cy="50800"/>
          </a:xfrm>
          <a:prstGeom prst="rect">
            <a:avLst/>
          </a:prstGeom>
          <a:solidFill>
            <a:srgbClr val="2C8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6BC27E-622D-94D4-2483-39E97BA03E39}"/>
              </a:ext>
            </a:extLst>
          </p:cNvPr>
          <p:cNvSpPr txBox="1"/>
          <p:nvPr/>
        </p:nvSpPr>
        <p:spPr>
          <a:xfrm>
            <a:off x="8153400" y="4229100"/>
            <a:ext cx="2717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Камера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2B35A6-FCB2-92DB-CB7F-1C8B1DE1CA0E}"/>
              </a:ext>
            </a:extLst>
          </p:cNvPr>
          <p:cNvSpPr txBox="1"/>
          <p:nvPr/>
        </p:nvSpPr>
        <p:spPr>
          <a:xfrm>
            <a:off x="8153400" y="4521200"/>
            <a:ext cx="2717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OrbitControls, плавный облет и презентационный режим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3ACEA9-E009-1BBF-7658-CE04023616F4}"/>
              </a:ext>
            </a:extLst>
          </p:cNvPr>
          <p:cNvSpPr txBox="1"/>
          <p:nvPr/>
        </p:nvSpPr>
        <p:spPr>
          <a:xfrm>
            <a:off x="1524000" y="5816600"/>
            <a:ext cx="889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400">
                <a:solidFill>
                  <a:srgbClr val="89A4B9"/>
                </a:solidFill>
                <a:latin typeface="Montserrat" panose="00000500000000000000" pitchFamily="2" charset="-52"/>
              </a:rPr>
              <a:t>Интерфейс остается учебным: видны входы, выход Y, формула и таблица истинности.</a:t>
            </a:r>
          </a:p>
        </p:txBody>
      </p:sp>
    </p:spTree>
    <p:extLst>
      <p:ext uri="{BB962C8B-B14F-4D97-AF65-F5344CB8AC3E}">
        <p14:creationId xmlns:p14="http://schemas.microsoft.com/office/powerpoint/2010/main" val="2544384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4B2DDC-9422-E699-E9D2-0ACC491331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C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841836CE-50FA-C43F-98D3-573E141F6CA4}"/>
              </a:ext>
            </a:extLst>
          </p:cNvPr>
          <p:cNvSpPr/>
          <p:nvPr/>
        </p:nvSpPr>
        <p:spPr>
          <a:xfrm>
            <a:off x="-1714500" y="-1524000"/>
            <a:ext cx="4318000" cy="4318000"/>
          </a:xfrm>
          <a:prstGeom prst="ellipse">
            <a:avLst/>
          </a:prstGeom>
          <a:solidFill>
            <a:srgbClr val="2C86FF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ADCE1C9C-FBEB-C5BD-8087-8338E4F1DD60}"/>
              </a:ext>
            </a:extLst>
          </p:cNvPr>
          <p:cNvSpPr/>
          <p:nvPr/>
        </p:nvSpPr>
        <p:spPr>
          <a:xfrm>
            <a:off x="9652000" y="4254500"/>
            <a:ext cx="3556000" cy="3556000"/>
          </a:xfrm>
          <a:prstGeom prst="ellipse">
            <a:avLst/>
          </a:prstGeom>
          <a:solidFill>
            <a:srgbClr val="3AFFB1">
              <a:alpha val="1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00707FE8-F3E9-54E2-BE30-75B365B3E8CC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F7F083A-8019-1CCC-8890-454163E9B706}"/>
              </a:ext>
            </a:extLst>
          </p:cNvPr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4FD64B7-B00E-CA0B-1C92-3D777E0E0088}"/>
              </a:ext>
            </a:extLst>
          </p:cNvPr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DA49EC04-9F60-DFCC-21D6-52D9EF221EFD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A7FEE5A-61A4-E2DE-9C80-42F06A684B42}"/>
              </a:ext>
            </a:extLst>
          </p:cNvPr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88D13E30-4BA2-902D-7851-E8FBED605430}"/>
              </a:ext>
            </a:extLst>
          </p:cNvPr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B0A3D2F-6C76-EEE5-86A3-9AEABBAD6471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A2883D7-32D8-D6BE-DCBF-0E6609A255FF}"/>
              </a:ext>
            </a:extLst>
          </p:cNvPr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0710C64-3D97-8F29-6EEF-1E191A147317}"/>
              </a:ext>
            </a:extLst>
          </p:cNvPr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0D8CFAF5-02CB-4576-2869-9C5D2E2179DD}"/>
              </a:ext>
            </a:extLst>
          </p:cNvPr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EA7AFD45-43B3-4D7F-CE9F-753D44289C92}"/>
              </a:ext>
            </a:extLst>
          </p:cNvPr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057A3F3-21B1-C960-F628-F4EB67BAC75B}"/>
              </a:ext>
            </a:extLst>
          </p:cNvPr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40559AFA-33A7-386B-3A60-199C6709289F}"/>
              </a:ext>
            </a:extLst>
          </p:cNvPr>
          <p:cNvCxnSpPr/>
          <p:nvPr/>
        </p:nvCxnSpPr>
        <p:spPr>
          <a:xfrm>
            <a:off x="0" y="25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625289C-A828-7324-1232-8FD06D5278D0}"/>
              </a:ext>
            </a:extLst>
          </p:cNvPr>
          <p:cNvCxnSpPr/>
          <p:nvPr/>
        </p:nvCxnSpPr>
        <p:spPr>
          <a:xfrm>
            <a:off x="0" y="127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33196F1D-649F-AAE5-6BD0-AF3EC11866E8}"/>
              </a:ext>
            </a:extLst>
          </p:cNvPr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86A7BB0-C8A4-FCA6-DEFA-E1C7786C610A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7807289-B1EF-CF8C-06C5-D65B8C5E4AA3}"/>
              </a:ext>
            </a:extLst>
          </p:cNvPr>
          <p:cNvCxnSpPr/>
          <p:nvPr/>
        </p:nvCxnSpPr>
        <p:spPr>
          <a:xfrm>
            <a:off x="0" y="4318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A009C3E2-E159-7332-E847-597CFD233539}"/>
              </a:ext>
            </a:extLst>
          </p:cNvPr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70748969-F9DA-24B0-D314-45CCDE002D79}"/>
              </a:ext>
            </a:extLst>
          </p:cNvPr>
          <p:cNvCxnSpPr/>
          <p:nvPr/>
        </p:nvCxnSpPr>
        <p:spPr>
          <a:xfrm>
            <a:off x="0" y="635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E170047-B503-B634-26EC-F510C96504A8}"/>
              </a:ext>
            </a:extLst>
          </p:cNvPr>
          <p:cNvSpPr txBox="1"/>
          <p:nvPr/>
        </p:nvSpPr>
        <p:spPr>
          <a:xfrm>
            <a:off x="533400" y="3048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>
                <a:solidFill>
                  <a:srgbClr val="00E2FF"/>
                </a:solidFill>
                <a:latin typeface="Montserrat" panose="00000500000000000000" pitchFamily="2" charset="-52"/>
              </a:rPr>
              <a:t>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B54F8A-2DE6-A78D-A36B-CA42371FA5F7}"/>
              </a:ext>
            </a:extLst>
          </p:cNvPr>
          <p:cNvSpPr txBox="1"/>
          <p:nvPr/>
        </p:nvSpPr>
        <p:spPr>
          <a:xfrm>
            <a:off x="1270000" y="2921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89A4B9"/>
                </a:solidFill>
                <a:latin typeface="Montserrat" panose="00000500000000000000" pitchFamily="2" charset="-52"/>
              </a:rPr>
              <a:t>Дипломный проект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922B2F4F-38EE-CDBA-1297-EE34FB53CE2B}"/>
              </a:ext>
            </a:extLst>
          </p:cNvPr>
          <p:cNvCxnSpPr/>
          <p:nvPr/>
        </p:nvCxnSpPr>
        <p:spPr>
          <a:xfrm>
            <a:off x="533400" y="6388100"/>
            <a:ext cx="11125200" cy="0"/>
          </a:xfrm>
          <a:prstGeom prst="line">
            <a:avLst/>
          </a:prstGeom>
          <a:ln w="13970" cap="flat" cmpd="sng" algn="ctr">
            <a:solidFill>
              <a:srgbClr val="315670">
                <a:alpha val="5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B32508-F3FC-1F08-9D75-733D12CDD695}"/>
              </a:ext>
            </a:extLst>
          </p:cNvPr>
          <p:cNvSpPr txBox="1"/>
          <p:nvPr/>
        </p:nvSpPr>
        <p:spPr>
          <a:xfrm>
            <a:off x="533400" y="736600"/>
            <a:ext cx="876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EEFAFF"/>
                </a:solidFill>
                <a:latin typeface="Montserrat" panose="00000500000000000000" pitchFamily="2" charset="-52"/>
              </a:rPr>
              <a:t>Проверка работы и результаты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8BF06AB-797C-AD80-1075-A6C9816F011F}"/>
              </a:ext>
            </a:extLst>
          </p:cNvPr>
          <p:cNvSpPr/>
          <p:nvPr/>
        </p:nvSpPr>
        <p:spPr>
          <a:xfrm>
            <a:off x="533400" y="1524000"/>
            <a:ext cx="13208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5754A5-E059-2424-F69E-1A3BDC461ABF}"/>
              </a:ext>
            </a:extLst>
          </p:cNvPr>
          <p:cNvSpPr txBox="1"/>
          <p:nvPr/>
        </p:nvSpPr>
        <p:spPr>
          <a:xfrm>
            <a:off x="533400" y="16764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89A4B9"/>
                </a:solidFill>
                <a:latin typeface="Montserrat" panose="00000500000000000000" pitchFamily="2" charset="-52"/>
              </a:rPr>
              <a:t>Проверялась логика, сборка, отображение и пользовательские режимы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6408BEF7-C46E-AF52-CF21-97BCCF3324E9}"/>
              </a:ext>
            </a:extLst>
          </p:cNvPr>
          <p:cNvSpPr/>
          <p:nvPr/>
        </p:nvSpPr>
        <p:spPr>
          <a:xfrm>
            <a:off x="812800" y="1905000"/>
            <a:ext cx="2159000" cy="1016000"/>
          </a:xfrm>
          <a:prstGeom prst="roundRect">
            <a:avLst/>
          </a:prstGeom>
          <a:solidFill>
            <a:srgbClr val="0E1827">
              <a:alpha val="82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E2EC1-9570-4660-FD12-2F1726735F51}"/>
              </a:ext>
            </a:extLst>
          </p:cNvPr>
          <p:cNvSpPr txBox="1"/>
          <p:nvPr/>
        </p:nvSpPr>
        <p:spPr>
          <a:xfrm>
            <a:off x="990600" y="2057400"/>
            <a:ext cx="1803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800" b="1">
                <a:solidFill>
                  <a:srgbClr val="3AFFB1"/>
                </a:solidFill>
                <a:latin typeface="Montserrat" panose="00000500000000000000" pitchFamily="2" charset="-52"/>
              </a:rPr>
              <a:t>OK</a:t>
            </a:r>
            <a:endParaRPr lang="ru-RU" sz="2800" b="1">
              <a:solidFill>
                <a:srgbClr val="3AFFB1"/>
              </a:solidFill>
              <a:latin typeface="Montserrat" panose="00000500000000000000" pitchFamily="2" charset="-5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4BE390-2FEF-38DC-F315-1E64856231D5}"/>
              </a:ext>
            </a:extLst>
          </p:cNvPr>
          <p:cNvSpPr txBox="1"/>
          <p:nvPr/>
        </p:nvSpPr>
        <p:spPr>
          <a:xfrm>
            <a:off x="990600" y="2540000"/>
            <a:ext cx="1803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>
                <a:solidFill>
                  <a:srgbClr val="89A4B9"/>
                </a:solidFill>
                <a:latin typeface="Montserrat" panose="00000500000000000000" pitchFamily="2" charset="-52"/>
              </a:rPr>
              <a:t>npm run build</a:t>
            </a:r>
            <a:endParaRPr lang="ru-RU" sz="1050">
              <a:solidFill>
                <a:srgbClr val="89A4B9"/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F754A413-E2C3-D296-75CE-0C4E32FC0725}"/>
              </a:ext>
            </a:extLst>
          </p:cNvPr>
          <p:cNvSpPr/>
          <p:nvPr/>
        </p:nvSpPr>
        <p:spPr>
          <a:xfrm>
            <a:off x="3302000" y="1905000"/>
            <a:ext cx="2159000" cy="1016000"/>
          </a:xfrm>
          <a:prstGeom prst="roundRect">
            <a:avLst/>
          </a:prstGeom>
          <a:solidFill>
            <a:srgbClr val="0E1827">
              <a:alpha val="82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2AD396-4613-95DC-1D60-2C6D1DD40E87}"/>
              </a:ext>
            </a:extLst>
          </p:cNvPr>
          <p:cNvSpPr txBox="1"/>
          <p:nvPr/>
        </p:nvSpPr>
        <p:spPr>
          <a:xfrm>
            <a:off x="3479800" y="2057400"/>
            <a:ext cx="1803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800" b="1">
                <a:solidFill>
                  <a:srgbClr val="00E2FF"/>
                </a:solidFill>
                <a:latin typeface="Montserrat" panose="00000500000000000000" pitchFamily="2" charset="-52"/>
              </a:rPr>
              <a:t>OK</a:t>
            </a:r>
            <a:endParaRPr lang="ru-RU" sz="2800" b="1">
              <a:solidFill>
                <a:srgbClr val="00E2FF"/>
              </a:solidFill>
              <a:latin typeface="Montserrat" panose="00000500000000000000" pitchFamily="2" charset="-52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578A07-AB68-818E-D520-7C4BE5590E28}"/>
              </a:ext>
            </a:extLst>
          </p:cNvPr>
          <p:cNvSpPr txBox="1"/>
          <p:nvPr/>
        </p:nvSpPr>
        <p:spPr>
          <a:xfrm>
            <a:off x="3479800" y="2540000"/>
            <a:ext cx="1803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>
                <a:solidFill>
                  <a:srgbClr val="89A4B9"/>
                </a:solidFill>
                <a:latin typeface="Montserrat" panose="00000500000000000000" pitchFamily="2" charset="-52"/>
              </a:rPr>
              <a:t>NOT / AND / OR</a:t>
            </a:r>
            <a:endParaRPr lang="ru-RU" sz="1050">
              <a:solidFill>
                <a:srgbClr val="89A4B9"/>
              </a:solidFill>
              <a:latin typeface="Montserrat" panose="00000500000000000000" pitchFamily="2" charset="-52"/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663D33BB-D397-8E4C-1C02-0F389D14B9F4}"/>
              </a:ext>
            </a:extLst>
          </p:cNvPr>
          <p:cNvSpPr/>
          <p:nvPr/>
        </p:nvSpPr>
        <p:spPr>
          <a:xfrm>
            <a:off x="5791200" y="1905000"/>
            <a:ext cx="2159000" cy="1016000"/>
          </a:xfrm>
          <a:prstGeom prst="roundRect">
            <a:avLst/>
          </a:prstGeom>
          <a:solidFill>
            <a:srgbClr val="0E1827">
              <a:alpha val="82000"/>
            </a:srgbClr>
          </a:solidFill>
          <a:ln w="13970" cap="flat" cmpd="sng" algn="ctr">
            <a:solidFill>
              <a:srgbClr val="2C86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3D29C8-3E54-D986-27BB-E6DCA4282AE0}"/>
              </a:ext>
            </a:extLst>
          </p:cNvPr>
          <p:cNvSpPr txBox="1"/>
          <p:nvPr/>
        </p:nvSpPr>
        <p:spPr>
          <a:xfrm>
            <a:off x="5969000" y="2057400"/>
            <a:ext cx="1803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800" b="1">
                <a:solidFill>
                  <a:srgbClr val="2C86FF"/>
                </a:solidFill>
                <a:latin typeface="Montserrat" panose="00000500000000000000" pitchFamily="2" charset="-52"/>
              </a:rPr>
              <a:t>OK</a:t>
            </a:r>
            <a:endParaRPr lang="ru-RU" sz="2800" b="1">
              <a:solidFill>
                <a:srgbClr val="2C86FF"/>
              </a:solidFill>
              <a:latin typeface="Montserrat" panose="00000500000000000000" pitchFamily="2" charset="-52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60F954-B088-AB66-FCF8-12C2E9E18F8C}"/>
              </a:ext>
            </a:extLst>
          </p:cNvPr>
          <p:cNvSpPr txBox="1"/>
          <p:nvPr/>
        </p:nvSpPr>
        <p:spPr>
          <a:xfrm>
            <a:off x="5969000" y="2540000"/>
            <a:ext cx="1803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>
                <a:solidFill>
                  <a:srgbClr val="89A4B9"/>
                </a:solidFill>
                <a:latin typeface="Montserrat" panose="00000500000000000000" pitchFamily="2" charset="-52"/>
              </a:rPr>
              <a:t>мини-видео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176F4551-D2BE-831F-FB93-D5175E501E2A}"/>
              </a:ext>
            </a:extLst>
          </p:cNvPr>
          <p:cNvSpPr/>
          <p:nvPr/>
        </p:nvSpPr>
        <p:spPr>
          <a:xfrm>
            <a:off x="8280400" y="1905000"/>
            <a:ext cx="2159000" cy="1016000"/>
          </a:xfrm>
          <a:prstGeom prst="roundRect">
            <a:avLst/>
          </a:prstGeom>
          <a:solidFill>
            <a:srgbClr val="0E1827">
              <a:alpha val="82000"/>
            </a:srgbClr>
          </a:solidFill>
          <a:ln w="13970" cap="flat" cmpd="sng" algn="ctr">
            <a:solidFill>
              <a:srgbClr val="FFC757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47183D-4174-1879-0886-2F187949CE87}"/>
              </a:ext>
            </a:extLst>
          </p:cNvPr>
          <p:cNvSpPr txBox="1"/>
          <p:nvPr/>
        </p:nvSpPr>
        <p:spPr>
          <a:xfrm>
            <a:off x="8458200" y="2057400"/>
            <a:ext cx="1803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800" b="1">
                <a:solidFill>
                  <a:srgbClr val="FFC757"/>
                </a:solidFill>
                <a:latin typeface="Montserrat" panose="00000500000000000000" pitchFamily="2" charset="-52"/>
              </a:rPr>
              <a:t>OK</a:t>
            </a:r>
            <a:endParaRPr lang="ru-RU" sz="2800" b="1">
              <a:solidFill>
                <a:srgbClr val="FFC757"/>
              </a:solidFill>
              <a:latin typeface="Montserrat" panose="00000500000000000000" pitchFamily="2" charset="-5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ADC673-296E-8925-9822-505FB6909BDA}"/>
              </a:ext>
            </a:extLst>
          </p:cNvPr>
          <p:cNvSpPr txBox="1"/>
          <p:nvPr/>
        </p:nvSpPr>
        <p:spPr>
          <a:xfrm>
            <a:off x="8458200" y="2540000"/>
            <a:ext cx="1803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>
                <a:solidFill>
                  <a:srgbClr val="89A4B9"/>
                </a:solidFill>
                <a:latin typeface="Montserrat" panose="00000500000000000000" pitchFamily="2" charset="-52"/>
              </a:rPr>
              <a:t>GitHub Pages</a:t>
            </a:r>
            <a:endParaRPr lang="ru-RU" sz="1050">
              <a:solidFill>
                <a:srgbClr val="89A4B9"/>
              </a:solidFill>
              <a:latin typeface="Montserrat" panose="00000500000000000000" pitchFamily="2" charset="-52"/>
            </a:endParaRP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1AF1A37C-7709-1F94-9B8E-54523799C68E}"/>
              </a:ext>
            </a:extLst>
          </p:cNvPr>
          <p:cNvSpPr/>
          <p:nvPr/>
        </p:nvSpPr>
        <p:spPr>
          <a:xfrm>
            <a:off x="1549400" y="3708400"/>
            <a:ext cx="9093200" cy="381000"/>
          </a:xfrm>
          <a:prstGeom prst="roundRect">
            <a:avLst/>
          </a:prstGeom>
          <a:solidFill>
            <a:srgbClr val="122237">
              <a:alpha val="72000"/>
            </a:srgbClr>
          </a:solidFill>
          <a:ln w="13970" cap="flat" cmpd="sng" algn="ctr">
            <a:solidFill>
              <a:srgbClr val="315670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3E6756-5438-E626-CE2A-66D77C27AEAA}"/>
              </a:ext>
            </a:extLst>
          </p:cNvPr>
          <p:cNvSpPr txBox="1"/>
          <p:nvPr/>
        </p:nvSpPr>
        <p:spPr>
          <a:xfrm>
            <a:off x="1828800" y="3797300"/>
            <a:ext cx="1397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b="1">
                <a:solidFill>
                  <a:srgbClr val="3AFFB1"/>
                </a:solidFill>
                <a:latin typeface="Montserrat" panose="00000500000000000000" pitchFamily="2" charset="-52"/>
              </a:rPr>
              <a:t>Запуск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95FBF7-E1AD-2347-1C5A-3F3AC13FFC81}"/>
              </a:ext>
            </a:extLst>
          </p:cNvPr>
          <p:cNvSpPr txBox="1"/>
          <p:nvPr/>
        </p:nvSpPr>
        <p:spPr>
          <a:xfrm>
            <a:off x="3556000" y="3797300"/>
            <a:ext cx="546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>
                <a:solidFill>
                  <a:srgbClr val="EEFAFF"/>
                </a:solidFill>
                <a:latin typeface="Montserrat" panose="00000500000000000000" pitchFamily="2" charset="-52"/>
              </a:rPr>
              <a:t>локальный сервер и первый экран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A776FF-9D62-4144-81E3-283331F4FB50}"/>
              </a:ext>
            </a:extLst>
          </p:cNvPr>
          <p:cNvSpPr txBox="1"/>
          <p:nvPr/>
        </p:nvSpPr>
        <p:spPr>
          <a:xfrm>
            <a:off x="9423400" y="3797300"/>
            <a:ext cx="914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 b="1">
                <a:solidFill>
                  <a:srgbClr val="3AFFB1"/>
                </a:solidFill>
                <a:latin typeface="Montserrat" panose="00000500000000000000" pitchFamily="2" charset="-52"/>
              </a:rPr>
              <a:t>пройдено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872AE25-0E23-0FE1-D9A6-E583E4ACB6A8}"/>
              </a:ext>
            </a:extLst>
          </p:cNvPr>
          <p:cNvSpPr/>
          <p:nvPr/>
        </p:nvSpPr>
        <p:spPr>
          <a:xfrm>
            <a:off x="1549400" y="4191000"/>
            <a:ext cx="9093200" cy="381000"/>
          </a:xfrm>
          <a:prstGeom prst="roundRect">
            <a:avLst/>
          </a:prstGeom>
          <a:solidFill>
            <a:srgbClr val="122237">
              <a:alpha val="72000"/>
            </a:srgbClr>
          </a:solidFill>
          <a:ln w="13970" cap="flat" cmpd="sng" algn="ctr">
            <a:solidFill>
              <a:srgbClr val="315670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98F56-AF3C-1AB0-B2BE-90AD47EFA9DB}"/>
              </a:ext>
            </a:extLst>
          </p:cNvPr>
          <p:cNvSpPr txBox="1"/>
          <p:nvPr/>
        </p:nvSpPr>
        <p:spPr>
          <a:xfrm>
            <a:off x="1828800" y="4279900"/>
            <a:ext cx="1397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b="1">
                <a:solidFill>
                  <a:srgbClr val="3AFFB1"/>
                </a:solidFill>
                <a:latin typeface="Montserrat" panose="00000500000000000000" pitchFamily="2" charset="-52"/>
              </a:rPr>
              <a:t>Сборка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804F59-7243-9E65-B421-03CF844DCF8B}"/>
              </a:ext>
            </a:extLst>
          </p:cNvPr>
          <p:cNvSpPr txBox="1"/>
          <p:nvPr/>
        </p:nvSpPr>
        <p:spPr>
          <a:xfrm>
            <a:off x="3556000" y="4279900"/>
            <a:ext cx="546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EEFAFF"/>
                </a:solidFill>
                <a:latin typeface="Montserrat" panose="00000500000000000000" pitchFamily="2" charset="-52"/>
              </a:rPr>
              <a:t>production-</a:t>
            </a:r>
            <a:r>
              <a:rPr lang="ru-RU" sz="1050">
                <a:solidFill>
                  <a:srgbClr val="EEFAFF"/>
                </a:solidFill>
                <a:latin typeface="Montserrat" panose="00000500000000000000" pitchFamily="2" charset="-52"/>
              </a:rPr>
              <a:t>файлы без ошибок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E152C4-F4DF-1E88-F51E-F15B87EC2112}"/>
              </a:ext>
            </a:extLst>
          </p:cNvPr>
          <p:cNvSpPr txBox="1"/>
          <p:nvPr/>
        </p:nvSpPr>
        <p:spPr>
          <a:xfrm>
            <a:off x="9423400" y="4279900"/>
            <a:ext cx="914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 b="1">
                <a:solidFill>
                  <a:srgbClr val="3AFFB1"/>
                </a:solidFill>
                <a:latin typeface="Montserrat" panose="00000500000000000000" pitchFamily="2" charset="-52"/>
              </a:rPr>
              <a:t>пройдено</a:t>
            </a: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880B01B8-2A0E-945B-C11F-A926CE1F50AA}"/>
              </a:ext>
            </a:extLst>
          </p:cNvPr>
          <p:cNvSpPr/>
          <p:nvPr/>
        </p:nvSpPr>
        <p:spPr>
          <a:xfrm>
            <a:off x="1549400" y="4673600"/>
            <a:ext cx="9093200" cy="381000"/>
          </a:xfrm>
          <a:prstGeom prst="roundRect">
            <a:avLst/>
          </a:prstGeom>
          <a:solidFill>
            <a:srgbClr val="122237">
              <a:alpha val="72000"/>
            </a:srgbClr>
          </a:solidFill>
          <a:ln w="13970" cap="flat" cmpd="sng" algn="ctr">
            <a:solidFill>
              <a:srgbClr val="315670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55A2B8-4C7D-07A0-08CD-6FDD2CFC7EAE}"/>
              </a:ext>
            </a:extLst>
          </p:cNvPr>
          <p:cNvSpPr txBox="1"/>
          <p:nvPr/>
        </p:nvSpPr>
        <p:spPr>
          <a:xfrm>
            <a:off x="1828800" y="4762500"/>
            <a:ext cx="1397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b="1">
                <a:solidFill>
                  <a:srgbClr val="3AFFB1"/>
                </a:solidFill>
                <a:latin typeface="Montserrat" panose="00000500000000000000" pitchFamily="2" charset="-52"/>
              </a:rPr>
              <a:t>Логика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CC6D63-DC99-D981-0156-315D603206E3}"/>
              </a:ext>
            </a:extLst>
          </p:cNvPr>
          <p:cNvSpPr txBox="1"/>
          <p:nvPr/>
        </p:nvSpPr>
        <p:spPr>
          <a:xfrm>
            <a:off x="3556000" y="4762500"/>
            <a:ext cx="546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>
                <a:solidFill>
                  <a:srgbClr val="EEFAFF"/>
                </a:solidFill>
                <a:latin typeface="Montserrat" panose="00000500000000000000" pitchFamily="2" charset="-52"/>
              </a:rPr>
              <a:t>Y совпадает с таблицами истинности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778D93-7B19-D5CB-7707-E8F5B9FE8627}"/>
              </a:ext>
            </a:extLst>
          </p:cNvPr>
          <p:cNvSpPr txBox="1"/>
          <p:nvPr/>
        </p:nvSpPr>
        <p:spPr>
          <a:xfrm>
            <a:off x="9423400" y="4762500"/>
            <a:ext cx="914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 b="1">
                <a:solidFill>
                  <a:srgbClr val="3AFFB1"/>
                </a:solidFill>
                <a:latin typeface="Montserrat" panose="00000500000000000000" pitchFamily="2" charset="-52"/>
              </a:rPr>
              <a:t>пройдено</a:t>
            </a: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504496E4-9E97-0CB8-DC6F-26E09EF32515}"/>
              </a:ext>
            </a:extLst>
          </p:cNvPr>
          <p:cNvSpPr/>
          <p:nvPr/>
        </p:nvSpPr>
        <p:spPr>
          <a:xfrm>
            <a:off x="1549400" y="5156200"/>
            <a:ext cx="9093200" cy="381000"/>
          </a:xfrm>
          <a:prstGeom prst="roundRect">
            <a:avLst/>
          </a:prstGeom>
          <a:solidFill>
            <a:srgbClr val="122237">
              <a:alpha val="72000"/>
            </a:srgbClr>
          </a:solidFill>
          <a:ln w="13970" cap="flat" cmpd="sng" algn="ctr">
            <a:solidFill>
              <a:srgbClr val="315670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19AD39-C788-9FD2-D47C-E85C6654E65C}"/>
              </a:ext>
            </a:extLst>
          </p:cNvPr>
          <p:cNvSpPr txBox="1"/>
          <p:nvPr/>
        </p:nvSpPr>
        <p:spPr>
          <a:xfrm>
            <a:off x="1828800" y="5245100"/>
            <a:ext cx="1397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b="1">
                <a:solidFill>
                  <a:srgbClr val="3AFFB1"/>
                </a:solidFill>
                <a:latin typeface="Montserrat" panose="00000500000000000000" pitchFamily="2" charset="-52"/>
              </a:rPr>
              <a:t>Интерактив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2478CA-4E2B-19C5-21D1-56CF84355548}"/>
              </a:ext>
            </a:extLst>
          </p:cNvPr>
          <p:cNvSpPr txBox="1"/>
          <p:nvPr/>
        </p:nvSpPr>
        <p:spPr>
          <a:xfrm>
            <a:off x="3556000" y="5245100"/>
            <a:ext cx="546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>
                <a:solidFill>
                  <a:srgbClr val="EEFAFF"/>
                </a:solidFill>
                <a:latin typeface="Montserrat" panose="00000500000000000000" pitchFamily="2" charset="-52"/>
              </a:rPr>
              <a:t>ручное переключение </a:t>
            </a:r>
            <a:r>
              <a:rPr lang="en-US" sz="1050">
                <a:solidFill>
                  <a:srgbClr val="EEFAFF"/>
                </a:solidFill>
                <a:latin typeface="Montserrat" panose="00000500000000000000" pitchFamily="2" charset="-52"/>
              </a:rPr>
              <a:t>A/B</a:t>
            </a:r>
            <a:endParaRPr lang="ru-RU" sz="1050">
              <a:solidFill>
                <a:srgbClr val="EEFAFF"/>
              </a:solidFill>
              <a:latin typeface="Montserrat" panose="00000500000000000000" pitchFamily="2" charset="-5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36126F-774F-35E0-E999-DADF99DC1AFA}"/>
              </a:ext>
            </a:extLst>
          </p:cNvPr>
          <p:cNvSpPr txBox="1"/>
          <p:nvPr/>
        </p:nvSpPr>
        <p:spPr>
          <a:xfrm>
            <a:off x="9423400" y="5245100"/>
            <a:ext cx="914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 b="1">
                <a:solidFill>
                  <a:srgbClr val="3AFFB1"/>
                </a:solidFill>
                <a:latin typeface="Montserrat" panose="00000500000000000000" pitchFamily="2" charset="-52"/>
              </a:rPr>
              <a:t>пройдено</a:t>
            </a:r>
          </a:p>
        </p:txBody>
      </p: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D555BA5E-5A51-D361-38B6-45D299F85C2F}"/>
              </a:ext>
            </a:extLst>
          </p:cNvPr>
          <p:cNvSpPr/>
          <p:nvPr/>
        </p:nvSpPr>
        <p:spPr>
          <a:xfrm>
            <a:off x="1549400" y="5638800"/>
            <a:ext cx="9093200" cy="381000"/>
          </a:xfrm>
          <a:prstGeom prst="roundRect">
            <a:avLst/>
          </a:prstGeom>
          <a:solidFill>
            <a:srgbClr val="122237">
              <a:alpha val="72000"/>
            </a:srgbClr>
          </a:solidFill>
          <a:ln w="13970" cap="flat" cmpd="sng" algn="ctr">
            <a:solidFill>
              <a:srgbClr val="315670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0AE3CB-96BD-AE50-21CA-B5498C21409C}"/>
              </a:ext>
            </a:extLst>
          </p:cNvPr>
          <p:cNvSpPr txBox="1"/>
          <p:nvPr/>
        </p:nvSpPr>
        <p:spPr>
          <a:xfrm>
            <a:off x="1828800" y="5727700"/>
            <a:ext cx="1397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3AFFB1"/>
                </a:solidFill>
                <a:latin typeface="Montserrat" panose="00000500000000000000" pitchFamily="2" charset="-52"/>
              </a:rPr>
              <a:t>Resize</a:t>
            </a:r>
            <a:endParaRPr lang="ru-RU" sz="1050" b="1">
              <a:solidFill>
                <a:srgbClr val="3AFFB1"/>
              </a:solidFill>
              <a:latin typeface="Montserrat" panose="00000500000000000000" pitchFamily="2" charset="-52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85BA69-F5CB-1BC3-EEBA-E3727E09D1BE}"/>
              </a:ext>
            </a:extLst>
          </p:cNvPr>
          <p:cNvSpPr txBox="1"/>
          <p:nvPr/>
        </p:nvSpPr>
        <p:spPr>
          <a:xfrm>
            <a:off x="3556000" y="5727700"/>
            <a:ext cx="546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>
                <a:solidFill>
                  <a:srgbClr val="EEFAFF"/>
                </a:solidFill>
                <a:latin typeface="Montserrat" panose="00000500000000000000" pitchFamily="2" charset="-52"/>
              </a:rPr>
              <a:t>сцена сохраняет пропорции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C94FD4-BD60-5A95-106B-886A0EC2F820}"/>
              </a:ext>
            </a:extLst>
          </p:cNvPr>
          <p:cNvSpPr txBox="1"/>
          <p:nvPr/>
        </p:nvSpPr>
        <p:spPr>
          <a:xfrm>
            <a:off x="9423400" y="5727700"/>
            <a:ext cx="914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50" b="1">
                <a:solidFill>
                  <a:srgbClr val="3AFFB1"/>
                </a:solidFill>
                <a:latin typeface="Montserrat" panose="00000500000000000000" pitchFamily="2" charset="-52"/>
              </a:rPr>
              <a:t>пройдено</a:t>
            </a:r>
          </a:p>
        </p:txBody>
      </p:sp>
    </p:spTree>
    <p:extLst>
      <p:ext uri="{BB962C8B-B14F-4D97-AF65-F5344CB8AC3E}">
        <p14:creationId xmlns:p14="http://schemas.microsoft.com/office/powerpoint/2010/main" val="349027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B66C332-887D-796C-18DB-5EF3D2ABF1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C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9A12F29E-754E-225E-0AFB-6B439D508626}"/>
              </a:ext>
            </a:extLst>
          </p:cNvPr>
          <p:cNvSpPr/>
          <p:nvPr/>
        </p:nvSpPr>
        <p:spPr>
          <a:xfrm>
            <a:off x="-1714500" y="-1524000"/>
            <a:ext cx="4318000" cy="4318000"/>
          </a:xfrm>
          <a:prstGeom prst="ellipse">
            <a:avLst/>
          </a:prstGeom>
          <a:solidFill>
            <a:srgbClr val="2C86FF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E23CEB37-8961-56CC-BA61-C0238165849D}"/>
              </a:ext>
            </a:extLst>
          </p:cNvPr>
          <p:cNvSpPr/>
          <p:nvPr/>
        </p:nvSpPr>
        <p:spPr>
          <a:xfrm>
            <a:off x="9652000" y="4254500"/>
            <a:ext cx="3556000" cy="3556000"/>
          </a:xfrm>
          <a:prstGeom prst="ellipse">
            <a:avLst/>
          </a:prstGeom>
          <a:solidFill>
            <a:srgbClr val="3AFFB1">
              <a:alpha val="1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19C2F7-004B-FCA0-502B-9A1CF623267E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13FA907-A118-EC5F-5100-35FF53A62A48}"/>
              </a:ext>
            </a:extLst>
          </p:cNvPr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43F240A-DBF9-5F50-2588-921D34EE0C5B}"/>
              </a:ext>
            </a:extLst>
          </p:cNvPr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BECFA1F-0F16-9B5F-1A4B-AB02D8EEF61E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4672587-EA4C-3DC1-E2BF-581FF089F531}"/>
              </a:ext>
            </a:extLst>
          </p:cNvPr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A2F7142-A348-B287-D944-59C18DA1C597}"/>
              </a:ext>
            </a:extLst>
          </p:cNvPr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C711E8E5-A967-9FBE-927E-96EF865062F9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09E1CB3-3C21-770E-5E83-21520194CC8F}"/>
              </a:ext>
            </a:extLst>
          </p:cNvPr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9791DA0-DB98-6DF7-2DFB-97AF0FBB0386}"/>
              </a:ext>
            </a:extLst>
          </p:cNvPr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17096030-06C1-3C25-352B-A168773EF9F1}"/>
              </a:ext>
            </a:extLst>
          </p:cNvPr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A050C95D-67EC-5AB8-7DBC-3E675523EFA3}"/>
              </a:ext>
            </a:extLst>
          </p:cNvPr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12D5304-F441-7F0D-0C0D-3708ED3B9675}"/>
              </a:ext>
            </a:extLst>
          </p:cNvPr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8890" cap="flat" cmpd="sng" algn="ctr">
            <a:solidFill>
              <a:srgbClr val="315670">
                <a:alpha val="1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C7BADCA-CA29-7845-2F4E-0E78A3A60D2C}"/>
              </a:ext>
            </a:extLst>
          </p:cNvPr>
          <p:cNvCxnSpPr/>
          <p:nvPr/>
        </p:nvCxnSpPr>
        <p:spPr>
          <a:xfrm>
            <a:off x="0" y="25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79E1F250-7FFF-910B-FFA2-378997B46C20}"/>
              </a:ext>
            </a:extLst>
          </p:cNvPr>
          <p:cNvCxnSpPr/>
          <p:nvPr/>
        </p:nvCxnSpPr>
        <p:spPr>
          <a:xfrm>
            <a:off x="0" y="127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A2383961-D27A-9800-9A8C-56719AD5E585}"/>
              </a:ext>
            </a:extLst>
          </p:cNvPr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5E4A8E3D-A2CA-4B8C-F00E-5F2F0ADC9928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4058B782-6C4C-C3AD-878E-8F6F438ED98F}"/>
              </a:ext>
            </a:extLst>
          </p:cNvPr>
          <p:cNvCxnSpPr/>
          <p:nvPr/>
        </p:nvCxnSpPr>
        <p:spPr>
          <a:xfrm>
            <a:off x="0" y="4318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7E54AEAB-7FDF-1CC7-12D9-7BB8E8442CF9}"/>
              </a:ext>
            </a:extLst>
          </p:cNvPr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94F543D2-7EFF-F39F-876E-DF307577C09B}"/>
              </a:ext>
            </a:extLst>
          </p:cNvPr>
          <p:cNvCxnSpPr/>
          <p:nvPr/>
        </p:nvCxnSpPr>
        <p:spPr>
          <a:xfrm>
            <a:off x="0" y="6350000"/>
            <a:ext cx="12192000" cy="0"/>
          </a:xfrm>
          <a:prstGeom prst="line">
            <a:avLst/>
          </a:prstGeom>
          <a:ln w="8890" cap="flat" cmpd="sng" algn="ctr">
            <a:solidFill>
              <a:srgbClr val="315670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FD95F2C-3BA6-0C95-654F-59863D5B31DA}"/>
              </a:ext>
            </a:extLst>
          </p:cNvPr>
          <p:cNvSpPr txBox="1"/>
          <p:nvPr/>
        </p:nvSpPr>
        <p:spPr>
          <a:xfrm>
            <a:off x="533400" y="3048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>
                <a:solidFill>
                  <a:srgbClr val="00E2FF"/>
                </a:solidFill>
                <a:latin typeface="Montserrat" panose="00000500000000000000" pitchFamily="2" charset="-52"/>
              </a:rPr>
              <a:t>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61EA8E-71B8-D9BC-DB6A-44932CD57DEA}"/>
              </a:ext>
            </a:extLst>
          </p:cNvPr>
          <p:cNvSpPr txBox="1"/>
          <p:nvPr/>
        </p:nvSpPr>
        <p:spPr>
          <a:xfrm>
            <a:off x="1270000" y="2921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89A4B9"/>
                </a:solidFill>
                <a:latin typeface="Montserrat" panose="00000500000000000000" pitchFamily="2" charset="-52"/>
              </a:rPr>
              <a:t>Дипломный проект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EFC5D81-DCAB-B805-7268-E63AE7DB7B5A}"/>
              </a:ext>
            </a:extLst>
          </p:cNvPr>
          <p:cNvCxnSpPr/>
          <p:nvPr/>
        </p:nvCxnSpPr>
        <p:spPr>
          <a:xfrm>
            <a:off x="533400" y="6388100"/>
            <a:ext cx="11125200" cy="0"/>
          </a:xfrm>
          <a:prstGeom prst="line">
            <a:avLst/>
          </a:prstGeom>
          <a:ln w="13970" cap="flat" cmpd="sng" algn="ctr">
            <a:solidFill>
              <a:srgbClr val="315670">
                <a:alpha val="5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3B851D0-2282-986E-ABFF-74350E7F5A73}"/>
              </a:ext>
            </a:extLst>
          </p:cNvPr>
          <p:cNvSpPr txBox="1"/>
          <p:nvPr/>
        </p:nvSpPr>
        <p:spPr>
          <a:xfrm>
            <a:off x="533400" y="736600"/>
            <a:ext cx="876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EEFAFF"/>
                </a:solidFill>
                <a:latin typeface="Montserrat" panose="00000500000000000000" pitchFamily="2" charset="-52"/>
              </a:rPr>
              <a:t>Практическая значимость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2AFF770-3AA1-3BA0-3C1D-A160840FCBB3}"/>
              </a:ext>
            </a:extLst>
          </p:cNvPr>
          <p:cNvSpPr/>
          <p:nvPr/>
        </p:nvSpPr>
        <p:spPr>
          <a:xfrm>
            <a:off x="533400" y="1524000"/>
            <a:ext cx="13208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AE0D5E-91D9-F008-FEBD-EA53FABEE458}"/>
              </a:ext>
            </a:extLst>
          </p:cNvPr>
          <p:cNvSpPr txBox="1"/>
          <p:nvPr/>
        </p:nvSpPr>
        <p:spPr>
          <a:xfrm>
            <a:off x="533400" y="1676400"/>
            <a:ext cx="787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89A4B9"/>
                </a:solidFill>
                <a:latin typeface="Montserrat" panose="00000500000000000000" pitchFamily="2" charset="-52"/>
              </a:rPr>
              <a:t>Разработка подходит для демонстрации, фронтальной проверки и самостоятельного изучения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DB800E64-5CF2-B368-F041-0CC63A86E263}"/>
              </a:ext>
            </a:extLst>
          </p:cNvPr>
          <p:cNvSpPr/>
          <p:nvPr/>
        </p:nvSpPr>
        <p:spPr>
          <a:xfrm>
            <a:off x="965200" y="2006600"/>
            <a:ext cx="2946400" cy="21082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B7B77A9-E961-8E4C-A4BB-67A348DEB8D7}"/>
              </a:ext>
            </a:extLst>
          </p:cNvPr>
          <p:cNvSpPr/>
          <p:nvPr/>
        </p:nvSpPr>
        <p:spPr>
          <a:xfrm>
            <a:off x="1168400" y="2209800"/>
            <a:ext cx="5334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76D347-B81F-81C8-2FE8-69692153ED05}"/>
              </a:ext>
            </a:extLst>
          </p:cNvPr>
          <p:cNvSpPr txBox="1"/>
          <p:nvPr/>
        </p:nvSpPr>
        <p:spPr>
          <a:xfrm>
            <a:off x="1168400" y="23749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Для преподавателя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2822CA-79DB-C041-0CBC-6F456AC9B865}"/>
              </a:ext>
            </a:extLst>
          </p:cNvPr>
          <p:cNvSpPr txBox="1"/>
          <p:nvPr/>
        </p:nvSpPr>
        <p:spPr>
          <a:xfrm>
            <a:off x="1168400" y="2819400"/>
            <a:ext cx="25400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короткий наглядный фрагмент для объяснения логики сигналов на занятии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286A5939-B48C-4C35-A050-30FF25882033}"/>
              </a:ext>
            </a:extLst>
          </p:cNvPr>
          <p:cNvSpPr/>
          <p:nvPr/>
        </p:nvSpPr>
        <p:spPr>
          <a:xfrm>
            <a:off x="4622800" y="2006600"/>
            <a:ext cx="2946400" cy="21082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C210B38-CA17-2379-BE76-1821EAEE7717}"/>
              </a:ext>
            </a:extLst>
          </p:cNvPr>
          <p:cNvSpPr/>
          <p:nvPr/>
        </p:nvSpPr>
        <p:spPr>
          <a:xfrm>
            <a:off x="4826000" y="2209800"/>
            <a:ext cx="533400" cy="50800"/>
          </a:xfrm>
          <a:prstGeom prst="rect">
            <a:avLst/>
          </a:prstGeom>
          <a:solidFill>
            <a:srgbClr val="3AFFB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4D642B-5882-8AF4-52D4-29FBA2B5CC1A}"/>
              </a:ext>
            </a:extLst>
          </p:cNvPr>
          <p:cNvSpPr txBox="1"/>
          <p:nvPr/>
        </p:nvSpPr>
        <p:spPr>
          <a:xfrm>
            <a:off x="4826000" y="23749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Для студента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B5B874-3761-48DB-5E28-EC02DDBD17D0}"/>
              </a:ext>
            </a:extLst>
          </p:cNvPr>
          <p:cNvSpPr txBox="1"/>
          <p:nvPr/>
        </p:nvSpPr>
        <p:spPr>
          <a:xfrm>
            <a:off x="4826000" y="2819400"/>
            <a:ext cx="25400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можно менять входы, видеть результат и связывать схему с таблицей истинности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C4E94B3-D2E3-A804-F12A-7719455A9127}"/>
              </a:ext>
            </a:extLst>
          </p:cNvPr>
          <p:cNvSpPr/>
          <p:nvPr/>
        </p:nvSpPr>
        <p:spPr>
          <a:xfrm>
            <a:off x="8280400" y="2006600"/>
            <a:ext cx="2946400" cy="21082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2C86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0143FF7-FAE0-056A-E20F-6C3B138604CC}"/>
              </a:ext>
            </a:extLst>
          </p:cNvPr>
          <p:cNvSpPr/>
          <p:nvPr/>
        </p:nvSpPr>
        <p:spPr>
          <a:xfrm>
            <a:off x="8483600" y="2209800"/>
            <a:ext cx="533400" cy="50800"/>
          </a:xfrm>
          <a:prstGeom prst="rect">
            <a:avLst/>
          </a:prstGeom>
          <a:solidFill>
            <a:srgbClr val="2C8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133477-E421-B348-104F-5D3850C77F7D}"/>
              </a:ext>
            </a:extLst>
          </p:cNvPr>
          <p:cNvSpPr txBox="1"/>
          <p:nvPr/>
        </p:nvSpPr>
        <p:spPr>
          <a:xfrm>
            <a:off x="8483600" y="23749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Для колледжа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A5902E-CEB4-D5AF-8361-B4F5E1706B9D}"/>
              </a:ext>
            </a:extLst>
          </p:cNvPr>
          <p:cNvSpPr txBox="1"/>
          <p:nvPr/>
        </p:nvSpPr>
        <p:spPr>
          <a:xfrm>
            <a:off x="8483600" y="2819400"/>
            <a:ext cx="25400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статический веб-проект легко открыть на любом современном компьютере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430ABC-0E9C-76B9-163B-AB769A76F27C}"/>
              </a:ext>
            </a:extLst>
          </p:cNvPr>
          <p:cNvSpPr txBox="1"/>
          <p:nvPr/>
        </p:nvSpPr>
        <p:spPr>
          <a:xfrm>
            <a:off x="1193800" y="5054600"/>
            <a:ext cx="9804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700" b="1">
                <a:solidFill>
                  <a:srgbClr val="EEFAFF"/>
                </a:solidFill>
                <a:latin typeface="Montserrat" panose="00000500000000000000" pitchFamily="2" charset="-52"/>
              </a:rPr>
              <a:t>Сценарий применения на занятии: 2 минуты вводная часть, 9 минут демонстрация NOT/AND/OR, 3 минуты интерактивная проверка, 1 минута итог.</a:t>
            </a:r>
          </a:p>
        </p:txBody>
      </p:sp>
    </p:spTree>
    <p:extLst>
      <p:ext uri="{BB962C8B-B14F-4D97-AF65-F5344CB8AC3E}">
        <p14:creationId xmlns:p14="http://schemas.microsoft.com/office/powerpoint/2010/main" val="2084784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AA09638-D878-998C-AB67-00AF08621B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C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EEDED36-DD67-88D5-4126-FDE94F6C7BE6}"/>
              </a:ext>
            </a:extLst>
          </p:cNvPr>
          <p:cNvSpPr/>
          <p:nvPr/>
        </p:nvSpPr>
        <p:spPr>
          <a:xfrm>
            <a:off x="5334000" y="1165225"/>
            <a:ext cx="5994400" cy="3460750"/>
          </a:xfrm>
          <a:prstGeom prst="roundRect">
            <a:avLst/>
          </a:prstGeom>
          <a:solidFill>
            <a:srgbClr val="0E1827">
              <a:alpha val="78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0FDD78-077B-ABAB-A0CD-0F34C07499E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600" y="1266825"/>
            <a:ext cx="5791200" cy="325755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3341D55-8B73-42CF-D418-02F555AC49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AED78E95-6032-53E1-4B38-C07C577E89E7}"/>
              </a:ext>
            </a:extLst>
          </p:cNvPr>
          <p:cNvSpPr/>
          <p:nvPr/>
        </p:nvSpPr>
        <p:spPr>
          <a:xfrm>
            <a:off x="-1905000" y="4064000"/>
            <a:ext cx="5334000" cy="5334000"/>
          </a:xfrm>
          <a:prstGeom prst="ellipse">
            <a:avLst/>
          </a:prstGeom>
          <a:solidFill>
            <a:srgbClr val="00E2FF">
              <a:alpha val="2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207BB-8223-EF74-F937-67E6DD42DA35}"/>
              </a:ext>
            </a:extLst>
          </p:cNvPr>
          <p:cNvSpPr txBox="1"/>
          <p:nvPr/>
        </p:nvSpPr>
        <p:spPr>
          <a:xfrm>
            <a:off x="736600" y="736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b="1">
                <a:solidFill>
                  <a:srgbClr val="3AFFB1"/>
                </a:solidFill>
                <a:latin typeface="Montserrat" panose="00000500000000000000" pitchFamily="2" charset="-52"/>
              </a:rPr>
              <a:t>Итог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A022C-343D-36A4-370F-306DA30A197D}"/>
              </a:ext>
            </a:extLst>
          </p:cNvPr>
          <p:cNvSpPr txBox="1"/>
          <p:nvPr/>
        </p:nvSpPr>
        <p:spPr>
          <a:xfrm>
            <a:off x="736600" y="1574800"/>
            <a:ext cx="61468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800" b="1">
                <a:solidFill>
                  <a:srgbClr val="EEFAFF"/>
                </a:solidFill>
                <a:latin typeface="Montserrat" panose="00000500000000000000" pitchFamily="2" charset="-52"/>
              </a:rPr>
              <a:t>Проект реализован
и готов к применению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615A68-BC75-641B-E527-4AFA9262F96D}"/>
              </a:ext>
            </a:extLst>
          </p:cNvPr>
          <p:cNvSpPr txBox="1"/>
          <p:nvPr/>
        </p:nvSpPr>
        <p:spPr>
          <a:xfrm>
            <a:off x="762000" y="3251200"/>
            <a:ext cx="63754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>
                <a:solidFill>
                  <a:srgbClr val="89A4B9"/>
                </a:solidFill>
                <a:latin typeface="Montserrat" panose="00000500000000000000" pitchFamily="2" charset="-52"/>
              </a:rPr>
              <a:t>Создан интерактивный 3D-фрагмент, который объединяет электронную схему, логическую функцию, движение сигнала и таблицу истинности в одном учебном сценарии.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D6E60D02-9DFC-0A1F-EDB8-039CA276CFBC}"/>
              </a:ext>
            </a:extLst>
          </p:cNvPr>
          <p:cNvSpPr/>
          <p:nvPr/>
        </p:nvSpPr>
        <p:spPr>
          <a:xfrm>
            <a:off x="736600" y="4648200"/>
            <a:ext cx="2870200" cy="10668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00E2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EC847BE-798D-44ED-D9EB-B66DB704E891}"/>
              </a:ext>
            </a:extLst>
          </p:cNvPr>
          <p:cNvSpPr/>
          <p:nvPr/>
        </p:nvSpPr>
        <p:spPr>
          <a:xfrm>
            <a:off x="939800" y="4851400"/>
            <a:ext cx="533400" cy="50800"/>
          </a:xfrm>
          <a:prstGeom prst="rect">
            <a:avLst/>
          </a:prstGeom>
          <a:solidFill>
            <a:srgbClr val="00E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5EA750-6146-8B14-BBDD-FB9229A7D46E}"/>
              </a:ext>
            </a:extLst>
          </p:cNvPr>
          <p:cNvSpPr txBox="1"/>
          <p:nvPr/>
        </p:nvSpPr>
        <p:spPr>
          <a:xfrm>
            <a:off x="939800" y="5016500"/>
            <a:ext cx="2463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Перспективы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6D100-2D81-FA7E-7C22-EE9FFA85B192}"/>
              </a:ext>
            </a:extLst>
          </p:cNvPr>
          <p:cNvSpPr txBox="1"/>
          <p:nvPr/>
        </p:nvSpPr>
        <p:spPr>
          <a:xfrm>
            <a:off x="939800" y="5308600"/>
            <a:ext cx="2463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NAND, NOR, XOR, задания с оценкой результата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2B3E87C-1157-E9E9-2294-8BF46E82EBE9}"/>
              </a:ext>
            </a:extLst>
          </p:cNvPr>
          <p:cNvSpPr/>
          <p:nvPr/>
        </p:nvSpPr>
        <p:spPr>
          <a:xfrm>
            <a:off x="3987800" y="4648200"/>
            <a:ext cx="2870200" cy="1066800"/>
          </a:xfrm>
          <a:prstGeom prst="roundRect">
            <a:avLst/>
          </a:prstGeom>
          <a:solidFill>
            <a:srgbClr val="0E1827">
              <a:alpha val="88000"/>
            </a:srgbClr>
          </a:solidFill>
          <a:ln w="13970" cap="flat" cmpd="sng" algn="ctr">
            <a:solidFill>
              <a:srgbClr val="3AFFB1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D09E0B5-98F9-7A10-0C98-3298F74285EE}"/>
              </a:ext>
            </a:extLst>
          </p:cNvPr>
          <p:cNvSpPr/>
          <p:nvPr/>
        </p:nvSpPr>
        <p:spPr>
          <a:xfrm>
            <a:off x="4191000" y="4851400"/>
            <a:ext cx="533400" cy="50800"/>
          </a:xfrm>
          <a:prstGeom prst="rect">
            <a:avLst/>
          </a:prstGeom>
          <a:solidFill>
            <a:srgbClr val="3AFFB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3B6070-1CED-FA67-3F37-D9CDE75C3F55}"/>
              </a:ext>
            </a:extLst>
          </p:cNvPr>
          <p:cNvSpPr txBox="1"/>
          <p:nvPr/>
        </p:nvSpPr>
        <p:spPr>
          <a:xfrm>
            <a:off x="4191000" y="5016500"/>
            <a:ext cx="2463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EFAFF"/>
                </a:solidFill>
                <a:latin typeface="Montserrat" panose="00000500000000000000" pitchFamily="2" charset="-52"/>
              </a:rPr>
              <a:t>Демонстрация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B6C9C0-E6C8-5432-BFE5-7E9DA85FCB02}"/>
              </a:ext>
            </a:extLst>
          </p:cNvPr>
          <p:cNvSpPr txBox="1"/>
          <p:nvPr/>
        </p:nvSpPr>
        <p:spPr>
          <a:xfrm>
            <a:off x="4191000" y="5308600"/>
            <a:ext cx="2463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89A4B9"/>
                </a:solidFill>
                <a:latin typeface="Montserrat" panose="00000500000000000000" pitchFamily="2" charset="-52"/>
              </a:rPr>
              <a:t>локально или через GitHub Pages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4CD49D-22ED-F430-86FB-E30278E02903}"/>
              </a:ext>
            </a:extLst>
          </p:cNvPr>
          <p:cNvSpPr txBox="1"/>
          <p:nvPr/>
        </p:nvSpPr>
        <p:spPr>
          <a:xfrm>
            <a:off x="736600" y="6121400"/>
            <a:ext cx="660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3AFFB1"/>
                </a:solidFill>
                <a:latin typeface="Montserrat" panose="00000500000000000000" pitchFamily="2" charset="-52"/>
              </a:rPr>
              <a:t>borntofxck.github.io/logic-gates-3d-visualization</a:t>
            </a:r>
            <a:endParaRPr lang="ru-RU" sz="1300" b="1">
              <a:solidFill>
                <a:srgbClr val="3AFFB1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037248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Microsoft Office PowerPoint</Application>
  <PresentationFormat>Произвольный</PresentationFormat>
  <Paragraphs>166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Montserrat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kursed kir</dc:creator>
  <cp:lastModifiedBy>kursed kir</cp:lastModifiedBy>
  <cp:revision>1</cp:revision>
  <dcterms:created xsi:type="dcterms:W3CDTF">2026-06-01T21:18:06Z</dcterms:created>
  <dcterms:modified xsi:type="dcterms:W3CDTF">2026-06-01T21:18:06Z</dcterms:modified>
</cp:coreProperties>
</file>